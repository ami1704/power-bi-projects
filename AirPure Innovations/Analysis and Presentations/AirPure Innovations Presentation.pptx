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C2A3"/>
    <a:srgbClr val="2A44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35" autoAdjust="0"/>
  </p:normalViewPr>
  <p:slideViewPr>
    <p:cSldViewPr snapToGrid="0">
      <p:cViewPr varScale="1">
        <p:scale>
          <a:sx n="74" d="100"/>
          <a:sy n="74" d="100"/>
        </p:scale>
        <p:origin x="1042" y="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F54C3-AD77-4296-B485-9A7EA34E4129}" type="datetimeFigureOut">
              <a:rPr lang="en-GB" smtClean="0"/>
              <a:t>04/08/2025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AEAA4-7CF9-4101-B6D5-88F9BD2DF4C2}" type="slidenum">
              <a:rPr lang="en-GB" smtClean="0"/>
              <a:t>‹#›</a:t>
            </a:fld>
            <a:endParaRPr lang="en-GB"/>
          </a:p>
        </p:txBody>
      </p:sp>
    </p:spTree>
    <p:extLst>
      <p:ext uri="{BB962C8B-B14F-4D97-AF65-F5344CB8AC3E}">
        <p14:creationId xmlns:p14="http://schemas.microsoft.com/office/powerpoint/2010/main" val="2647308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9EAEAA4-7CF9-4101-B6D5-88F9BD2DF4C2}" type="slidenum">
              <a:rPr lang="en-GB" smtClean="0"/>
              <a:t>1</a:t>
            </a:fld>
            <a:endParaRPr lang="en-GB"/>
          </a:p>
        </p:txBody>
      </p:sp>
    </p:spTree>
    <p:extLst>
      <p:ext uri="{BB962C8B-B14F-4D97-AF65-F5344CB8AC3E}">
        <p14:creationId xmlns:p14="http://schemas.microsoft.com/office/powerpoint/2010/main" val="3963816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4D223-62EF-E891-ADF8-3151D53968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F816E6-7954-6FE3-0BDF-3B032482B8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4FAE9BF-BEAE-3E55-178B-6DE7C86CE00B}"/>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0336B6D9-503E-2BB8-842B-E481663383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30B56A-7F9E-699E-7363-0902A72562CF}"/>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579622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340D-E8AC-7C0A-2890-0323A78035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3B38F-E69D-039E-084D-AE692C2B71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AFFAA8-A784-DF62-4DBB-043DC0F2772A}"/>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3F382345-EDCD-D0EF-C030-7DA4E97222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DBAE39-317D-C368-A396-CA9CB8F341C0}"/>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97377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3482-C1B5-A555-8CA5-67C55E2483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EBC2A19-7E21-6514-43A9-EEFF178E5F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0DF3AD-358F-8332-3C1A-EA2686A506C0}"/>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143288C8-7B90-1606-EC4C-C99C950155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E16784-2AC6-3F3D-AE8F-6CBF6A74A2FD}"/>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070674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27B8-E4E6-74C5-873F-2FB8990F72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DC7594-147A-57D5-0D42-236A07272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6F47E13-A1EF-7CF0-9DD2-454692A4A6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F36E986-AD64-D19B-2503-E2B95CFBC5BE}"/>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6" name="Footer Placeholder 5">
            <a:extLst>
              <a:ext uri="{FF2B5EF4-FFF2-40B4-BE49-F238E27FC236}">
                <a16:creationId xmlns:a16="http://schemas.microsoft.com/office/drawing/2014/main" id="{D9E13DF6-A2F9-CA52-94E3-0B36C67840D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6F9836-CCD0-D008-FE0D-CF04B992D602}"/>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931142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84BE-57C6-B611-C1B2-328FFFAA61E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5E96613-80F0-DF0E-F09D-67441DCF53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51E6B4-EBE5-5951-7DCA-9CEAEE33E5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9E05939-F9C1-668C-EEE5-9B8031CFA6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90632C-69FF-B08C-3FF2-79397B765F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B40E7DC-2EAF-8955-0490-75D35B65D59F}"/>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8" name="Footer Placeholder 7">
            <a:extLst>
              <a:ext uri="{FF2B5EF4-FFF2-40B4-BE49-F238E27FC236}">
                <a16:creationId xmlns:a16="http://schemas.microsoft.com/office/drawing/2014/main" id="{B598E7C3-22DC-5147-15E0-85BC0E19E8F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945A29C-E488-77D6-849C-50570CC86130}"/>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295111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D91BB-DE9E-673D-FE3D-26145133974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48C2CA8-9D30-49D3-DE99-A03E7F327C45}"/>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4" name="Footer Placeholder 3">
            <a:extLst>
              <a:ext uri="{FF2B5EF4-FFF2-40B4-BE49-F238E27FC236}">
                <a16:creationId xmlns:a16="http://schemas.microsoft.com/office/drawing/2014/main" id="{2946C3D0-D43C-512E-FB33-09549F5A21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F13FFF1-9AF0-CE47-13F3-56AD739C23D4}"/>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393276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C4AE09-F5F9-D4C9-3B55-BFBE621D3785}"/>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3" name="Footer Placeholder 2">
            <a:extLst>
              <a:ext uri="{FF2B5EF4-FFF2-40B4-BE49-F238E27FC236}">
                <a16:creationId xmlns:a16="http://schemas.microsoft.com/office/drawing/2014/main" id="{1414F62E-6ABA-46DE-5F22-477001643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56DEA24-F89D-9EE1-98CF-89FF66FA6AB9}"/>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42997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4B21-F92D-BFA2-6CA0-FA5F6B1BAC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7C16BC-050E-BC00-C976-95B9CE5DD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26E5A8-8A23-F132-27BE-ED5D89C87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EFD210-DBC3-EF9D-5B77-AC4CEFC9DFEC}"/>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6" name="Footer Placeholder 5">
            <a:extLst>
              <a:ext uri="{FF2B5EF4-FFF2-40B4-BE49-F238E27FC236}">
                <a16:creationId xmlns:a16="http://schemas.microsoft.com/office/drawing/2014/main" id="{F1C69956-4294-0FDE-E2E4-8A413CD023A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CE9019-9E17-3186-3084-89764CAFC697}"/>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265067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D72D0-52AF-D87F-0178-A073BD1860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407975-575E-01F2-EC03-1C2C9F0121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33A4158-90A0-B615-A22B-3DA0EC4F1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F3791-4183-E0AB-2B8E-E260F05DA5B7}"/>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6" name="Footer Placeholder 5">
            <a:extLst>
              <a:ext uri="{FF2B5EF4-FFF2-40B4-BE49-F238E27FC236}">
                <a16:creationId xmlns:a16="http://schemas.microsoft.com/office/drawing/2014/main" id="{7DF7D968-DDE0-758B-CDBB-B9089B8472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BA638C-E627-C1BE-08ED-6A19B470249F}"/>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108556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85CE-DF31-EC41-8993-2E2F2D166B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2B887C8-16F4-58B4-C74D-5119AF4B2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C031795-CFF3-2200-0AD9-878D034E9864}"/>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668F6CA8-63D8-46AE-B804-4D6D6FEAE9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17852A-23DF-2FBC-73A7-D84477BDC2D7}"/>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4084562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6F5341-D76F-AE5A-DA04-2178E38272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CF6A5B-ABDD-41E8-279B-1F0B3A7F2A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7D14A2-ABBE-3810-A9BA-5EA50D9C9A47}"/>
              </a:ext>
            </a:extLst>
          </p:cNvPr>
          <p:cNvSpPr>
            <a:spLocks noGrp="1"/>
          </p:cNvSpPr>
          <p:nvPr>
            <p:ph type="dt" sz="half" idx="10"/>
          </p:nvPr>
        </p:nvSpPr>
        <p:spPr/>
        <p:txBody>
          <a:body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437E74C2-9888-8263-1C07-8464D4D73D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8D1AEE-3D56-4DC9-C32E-3977A4F0C557}"/>
              </a:ext>
            </a:extLst>
          </p:cNvPr>
          <p:cNvSpPr>
            <a:spLocks noGrp="1"/>
          </p:cNvSpPr>
          <p:nvPr>
            <p:ph type="sldNum" sz="quarter" idx="12"/>
          </p:nvPr>
        </p:nvSpPr>
        <p:spPr/>
        <p:txBody>
          <a:bodyPr/>
          <a:lstStyle/>
          <a:p>
            <a:fld id="{8189F3DA-D5F0-4327-BA45-1EEF764EE5B8}" type="slidenum">
              <a:rPr lang="en-GB" smtClean="0"/>
              <a:t>‹#›</a:t>
            </a:fld>
            <a:endParaRPr lang="en-GB"/>
          </a:p>
        </p:txBody>
      </p:sp>
    </p:spTree>
    <p:extLst>
      <p:ext uri="{BB962C8B-B14F-4D97-AF65-F5344CB8AC3E}">
        <p14:creationId xmlns:p14="http://schemas.microsoft.com/office/powerpoint/2010/main" val="180142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7F04A3-D53B-D5C3-8F24-D7879BB1F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877CF6F-517D-1E14-D91F-1629D88E9E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AD175C-A063-5A6F-14F9-027D5AED9E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3A70CD-4260-4265-A509-67E50CC333F3}" type="datetimeFigureOut">
              <a:rPr lang="en-GB" smtClean="0"/>
              <a:t>04/08/2025</a:t>
            </a:fld>
            <a:endParaRPr lang="en-GB"/>
          </a:p>
        </p:txBody>
      </p:sp>
      <p:sp>
        <p:nvSpPr>
          <p:cNvPr id="5" name="Footer Placeholder 4">
            <a:extLst>
              <a:ext uri="{FF2B5EF4-FFF2-40B4-BE49-F238E27FC236}">
                <a16:creationId xmlns:a16="http://schemas.microsoft.com/office/drawing/2014/main" id="{D992B8ED-50A5-110E-B38D-C2A9C4D09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83C131E-A656-0162-5C24-D81237BDFD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89F3DA-D5F0-4327-BA45-1EEF764EE5B8}" type="slidenum">
              <a:rPr lang="en-GB" smtClean="0"/>
              <a:t>‹#›</a:t>
            </a:fld>
            <a:endParaRPr lang="en-GB"/>
          </a:p>
        </p:txBody>
      </p:sp>
    </p:spTree>
    <p:extLst>
      <p:ext uri="{BB962C8B-B14F-4D97-AF65-F5344CB8AC3E}">
        <p14:creationId xmlns:p14="http://schemas.microsoft.com/office/powerpoint/2010/main" val="3702789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10.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microsoft.com/office/2007/relationships/hdphoto" Target="../media/hdphoto7.wdp"/></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1.png"/><Relationship Id="rId1" Type="http://schemas.openxmlformats.org/officeDocument/2006/relationships/slideLayout" Target="../slideLayouts/slideLayout7.xml"/><Relationship Id="rId5" Type="http://schemas.microsoft.com/office/2007/relationships/hdphoto" Target="../media/hdphoto9.wdp"/><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DBB32-EE8D-82B5-981F-6C4E47FBA717}"/>
              </a:ext>
            </a:extLst>
          </p:cNvPr>
          <p:cNvSpPr>
            <a:spLocks noGrp="1"/>
          </p:cNvSpPr>
          <p:nvPr>
            <p:ph type="title"/>
          </p:nvPr>
        </p:nvSpPr>
        <p:spPr>
          <a:xfrm>
            <a:off x="1704109" y="579294"/>
            <a:ext cx="9185563" cy="1969655"/>
          </a:xfrm>
        </p:spPr>
        <p:txBody>
          <a:bodyPr>
            <a:no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Conduct Market Fit Research for Air Purifier Development Using AQI Analytics</a:t>
            </a:r>
          </a:p>
        </p:txBody>
      </p:sp>
      <p:sp>
        <p:nvSpPr>
          <p:cNvPr id="3" name="Content Placeholder 2">
            <a:extLst>
              <a:ext uri="{FF2B5EF4-FFF2-40B4-BE49-F238E27FC236}">
                <a16:creationId xmlns:a16="http://schemas.microsoft.com/office/drawing/2014/main" id="{3B66E22C-6370-3C37-09E2-59F8DCFD82E1}"/>
              </a:ext>
            </a:extLst>
          </p:cNvPr>
          <p:cNvSpPr>
            <a:spLocks noGrp="1"/>
          </p:cNvSpPr>
          <p:nvPr>
            <p:ph idx="1"/>
          </p:nvPr>
        </p:nvSpPr>
        <p:spPr>
          <a:xfrm>
            <a:off x="1610590" y="2847111"/>
            <a:ext cx="9185563" cy="657802"/>
          </a:xfrm>
        </p:spPr>
        <p:txBody>
          <a:bodyPr>
            <a:noAutofit/>
          </a:bodyPr>
          <a:lstStyle/>
          <a:p>
            <a:pPr marL="0" indent="0" algn="ctr">
              <a:buNone/>
            </a:pPr>
            <a:r>
              <a:rPr lang="en-GB" sz="3000" dirty="0">
                <a:solidFill>
                  <a:srgbClr val="D1C2A3"/>
                </a:solidFill>
                <a:latin typeface="Times New Roman" panose="02020603050405020304" pitchFamily="18" charset="0"/>
                <a:cs typeface="Times New Roman" panose="02020603050405020304" pitchFamily="18" charset="0"/>
              </a:rPr>
              <a:t>Resume Project Challenge #16 Organized by </a:t>
            </a:r>
            <a:r>
              <a:rPr lang="en-GB" sz="3000" dirty="0" err="1">
                <a:solidFill>
                  <a:srgbClr val="D1C2A3"/>
                </a:solidFill>
                <a:latin typeface="Times New Roman" panose="02020603050405020304" pitchFamily="18" charset="0"/>
                <a:cs typeface="Times New Roman" panose="02020603050405020304" pitchFamily="18" charset="0"/>
              </a:rPr>
              <a:t>Codebasics</a:t>
            </a:r>
            <a:endParaRPr lang="en-GB" sz="3000" dirty="0">
              <a:solidFill>
                <a:srgbClr val="D1C2A3"/>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D6D5C01-BB4A-F2BD-3BD2-0AEB8FD28C13}"/>
              </a:ext>
            </a:extLst>
          </p:cNvPr>
          <p:cNvSpPr txBox="1"/>
          <p:nvPr/>
        </p:nvSpPr>
        <p:spPr>
          <a:xfrm>
            <a:off x="1340427" y="3803075"/>
            <a:ext cx="9725890" cy="400110"/>
          </a:xfrm>
          <a:prstGeom prst="rect">
            <a:avLst/>
          </a:prstGeom>
          <a:noFill/>
        </p:spPr>
        <p:txBody>
          <a:bodyPr wrap="square">
            <a:spAutoFit/>
          </a:bodyPr>
          <a:lstStyle/>
          <a:p>
            <a:pPr algn="ctr"/>
            <a:r>
              <a:rPr lang="en-GB" sz="2000" b="1" dirty="0">
                <a:solidFill>
                  <a:srgbClr val="D1C2A3"/>
                </a:solidFill>
                <a:latin typeface="Times New Roman" panose="02020603050405020304" pitchFamily="18" charset="0"/>
                <a:cs typeface="Times New Roman" panose="02020603050405020304" pitchFamily="18" charset="0"/>
              </a:rPr>
              <a:t>Domain: </a:t>
            </a:r>
            <a:r>
              <a:rPr lang="en-GB" sz="2000" dirty="0">
                <a:solidFill>
                  <a:srgbClr val="D1C2A3"/>
                </a:solidFill>
                <a:latin typeface="Times New Roman" panose="02020603050405020304" pitchFamily="18" charset="0"/>
                <a:cs typeface="Times New Roman" panose="02020603050405020304" pitchFamily="18" charset="0"/>
              </a:rPr>
              <a:t>Consumer Appliances 		</a:t>
            </a:r>
            <a:r>
              <a:rPr lang="en-GB" sz="2000" b="1" dirty="0">
                <a:solidFill>
                  <a:srgbClr val="D1C2A3"/>
                </a:solidFill>
                <a:latin typeface="Times New Roman" panose="02020603050405020304" pitchFamily="18" charset="0"/>
                <a:cs typeface="Times New Roman" panose="02020603050405020304" pitchFamily="18" charset="0"/>
              </a:rPr>
              <a:t>Function</a:t>
            </a:r>
            <a:r>
              <a:rPr lang="en-GB" sz="2000" dirty="0">
                <a:solidFill>
                  <a:srgbClr val="D1C2A3"/>
                </a:solidFill>
                <a:latin typeface="Times New Roman" panose="02020603050405020304" pitchFamily="18" charset="0"/>
                <a:cs typeface="Times New Roman" panose="02020603050405020304" pitchFamily="18" charset="0"/>
              </a:rPr>
              <a:t>: Market Research Analytics</a:t>
            </a:r>
          </a:p>
        </p:txBody>
      </p:sp>
      <p:sp>
        <p:nvSpPr>
          <p:cNvPr id="7" name="TextBox 6">
            <a:extLst>
              <a:ext uri="{FF2B5EF4-FFF2-40B4-BE49-F238E27FC236}">
                <a16:creationId xmlns:a16="http://schemas.microsoft.com/office/drawing/2014/main" id="{593050F5-293F-677A-2826-8DC5E83CFFF6}"/>
              </a:ext>
            </a:extLst>
          </p:cNvPr>
          <p:cNvSpPr txBox="1"/>
          <p:nvPr/>
        </p:nvSpPr>
        <p:spPr>
          <a:xfrm>
            <a:off x="3545898" y="5128371"/>
            <a:ext cx="4652529" cy="461665"/>
          </a:xfrm>
          <a:prstGeom prst="rect">
            <a:avLst/>
          </a:prstGeom>
          <a:noFill/>
        </p:spPr>
        <p:txBody>
          <a:bodyPr wrap="square">
            <a:spAutoFit/>
          </a:bodyPr>
          <a:lstStyle/>
          <a:p>
            <a:pPr algn="ctr"/>
            <a:r>
              <a:rPr lang="en-GB" sz="2400" dirty="0">
                <a:solidFill>
                  <a:srgbClr val="D1C2A3"/>
                </a:solidFill>
                <a:latin typeface="Times New Roman" panose="02020603050405020304" pitchFamily="18" charset="0"/>
                <a:cs typeface="Times New Roman" panose="02020603050405020304" pitchFamily="18" charset="0"/>
              </a:rPr>
              <a:t>Presented By: </a:t>
            </a:r>
            <a:r>
              <a:rPr lang="en-GB" sz="2400" dirty="0" err="1">
                <a:solidFill>
                  <a:srgbClr val="D1C2A3"/>
                </a:solidFill>
                <a:latin typeface="Times New Roman" panose="02020603050405020304" pitchFamily="18" charset="0"/>
                <a:cs typeface="Times New Roman" panose="02020603050405020304" pitchFamily="18" charset="0"/>
              </a:rPr>
              <a:t>Amibahen</a:t>
            </a:r>
            <a:r>
              <a:rPr lang="en-GB" sz="2400" dirty="0">
                <a:solidFill>
                  <a:srgbClr val="D1C2A3"/>
                </a:solidFill>
                <a:latin typeface="Times New Roman" panose="02020603050405020304" pitchFamily="18" charset="0"/>
                <a:cs typeface="Times New Roman" panose="02020603050405020304" pitchFamily="18" charset="0"/>
              </a:rPr>
              <a:t> Dave</a:t>
            </a:r>
          </a:p>
        </p:txBody>
      </p:sp>
    </p:spTree>
    <p:custDataLst>
      <p:tags r:id="rId1"/>
    </p:custDataLst>
    <p:extLst>
      <p:ext uri="{BB962C8B-B14F-4D97-AF65-F5344CB8AC3E}">
        <p14:creationId xmlns:p14="http://schemas.microsoft.com/office/powerpoint/2010/main" val="34225526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2"/>
                                        </p:tgtEl>
                                        <p:attrNameLst>
                                          <p:attrName>style.color</p:attrName>
                                        </p:attrNameLst>
                                      </p:cBhvr>
                                      <p:to>
                                        <p:clrVal>
                                          <a:schemeClr val="accent2"/>
                                        </p:clrVal>
                                      </p:to>
                                    </p:set>
                                    <p:set>
                                      <p:cBhvr>
                                        <p:cTn id="7" dur="500" fill="hold"/>
                                        <p:tgtEl>
                                          <p:spTgt spid="2"/>
                                        </p:tgtEl>
                                        <p:attrNameLst>
                                          <p:attrName>fillcolor</p:attrName>
                                        </p:attrNameLst>
                                      </p:cBhvr>
                                      <p:to>
                                        <p:clrVal>
                                          <a:schemeClr val="accent2"/>
                                        </p:clrVal>
                                      </p:to>
                                    </p:set>
                                    <p:set>
                                      <p:cBhvr>
                                        <p:cTn id="8" dur="500" fill="hold"/>
                                        <p:tgtEl>
                                          <p:spTgt spid="2"/>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B1F2BC-23E6-0B61-539F-B6A9B294BA6A}"/>
              </a:ext>
            </a:extLst>
          </p:cNvPr>
          <p:cNvSpPr txBox="1"/>
          <p:nvPr/>
        </p:nvSpPr>
        <p:spPr>
          <a:xfrm>
            <a:off x="5208876" y="176646"/>
            <a:ext cx="1971242" cy="707886"/>
          </a:xfrm>
          <a:prstGeom prst="rect">
            <a:avLst/>
          </a:prstGeom>
          <a:noFill/>
        </p:spPr>
        <p:txBody>
          <a:bodyPr wrap="square" anchor="ctr">
            <a:spAutoFit/>
          </a:bodyPr>
          <a:lstStyle/>
          <a:p>
            <a:r>
              <a:rPr lang="en-GB" sz="4000" b="1" dirty="0">
                <a:solidFill>
                  <a:srgbClr val="D1C2A3"/>
                </a:solidFill>
                <a:latin typeface="Times New Roman" panose="02020603050405020304" pitchFamily="18" charset="0"/>
                <a:cs typeface="Times New Roman" panose="02020603050405020304" pitchFamily="18" charset="0"/>
              </a:rPr>
              <a:t>Agenda</a:t>
            </a:r>
          </a:p>
        </p:txBody>
      </p:sp>
      <p:sp>
        <p:nvSpPr>
          <p:cNvPr id="5" name="TextBox 4">
            <a:extLst>
              <a:ext uri="{FF2B5EF4-FFF2-40B4-BE49-F238E27FC236}">
                <a16:creationId xmlns:a16="http://schemas.microsoft.com/office/drawing/2014/main" id="{487D4A8B-7995-D7D9-136C-0F5C274D135E}"/>
              </a:ext>
            </a:extLst>
          </p:cNvPr>
          <p:cNvSpPr txBox="1"/>
          <p:nvPr/>
        </p:nvSpPr>
        <p:spPr>
          <a:xfrm>
            <a:off x="1093643" y="1116491"/>
            <a:ext cx="3519921"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1. Company Overview</a:t>
            </a:r>
          </a:p>
        </p:txBody>
      </p:sp>
      <p:sp>
        <p:nvSpPr>
          <p:cNvPr id="6" name="TextBox 5">
            <a:extLst>
              <a:ext uri="{FF2B5EF4-FFF2-40B4-BE49-F238E27FC236}">
                <a16:creationId xmlns:a16="http://schemas.microsoft.com/office/drawing/2014/main" id="{0A39575E-794B-9A44-C56F-82CA1FC9027B}"/>
              </a:ext>
            </a:extLst>
          </p:cNvPr>
          <p:cNvSpPr txBox="1"/>
          <p:nvPr/>
        </p:nvSpPr>
        <p:spPr>
          <a:xfrm>
            <a:off x="1094936" y="1659217"/>
            <a:ext cx="9515476"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2. Problem Statement </a:t>
            </a:r>
          </a:p>
        </p:txBody>
      </p:sp>
      <p:sp>
        <p:nvSpPr>
          <p:cNvPr id="7" name="TextBox 6">
            <a:extLst>
              <a:ext uri="{FF2B5EF4-FFF2-40B4-BE49-F238E27FC236}">
                <a16:creationId xmlns:a16="http://schemas.microsoft.com/office/drawing/2014/main" id="{9B8FBF98-F64B-DD9D-2475-C59A93002C86}"/>
              </a:ext>
            </a:extLst>
          </p:cNvPr>
          <p:cNvSpPr txBox="1"/>
          <p:nvPr/>
        </p:nvSpPr>
        <p:spPr>
          <a:xfrm>
            <a:off x="1093642" y="2201943"/>
            <a:ext cx="4115234"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3. Objectives</a:t>
            </a:r>
          </a:p>
        </p:txBody>
      </p:sp>
      <p:sp>
        <p:nvSpPr>
          <p:cNvPr id="8" name="TextBox 7">
            <a:extLst>
              <a:ext uri="{FF2B5EF4-FFF2-40B4-BE49-F238E27FC236}">
                <a16:creationId xmlns:a16="http://schemas.microsoft.com/office/drawing/2014/main" id="{C9697DDF-994B-7F31-2A10-629CE0B8EFD8}"/>
              </a:ext>
            </a:extLst>
          </p:cNvPr>
          <p:cNvSpPr txBox="1"/>
          <p:nvPr/>
        </p:nvSpPr>
        <p:spPr>
          <a:xfrm>
            <a:off x="1093639" y="2744669"/>
            <a:ext cx="3364059"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4. Data Overview</a:t>
            </a:r>
          </a:p>
        </p:txBody>
      </p:sp>
      <p:sp>
        <p:nvSpPr>
          <p:cNvPr id="9" name="TextBox 8">
            <a:extLst>
              <a:ext uri="{FF2B5EF4-FFF2-40B4-BE49-F238E27FC236}">
                <a16:creationId xmlns:a16="http://schemas.microsoft.com/office/drawing/2014/main" id="{2C205F9C-A034-9F92-1103-F6061FDBDF03}"/>
              </a:ext>
            </a:extLst>
          </p:cNvPr>
          <p:cNvSpPr txBox="1"/>
          <p:nvPr/>
        </p:nvSpPr>
        <p:spPr>
          <a:xfrm>
            <a:off x="1094937" y="4370303"/>
            <a:ext cx="9515475"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7. Primary Analysis (Based on Available Data)</a:t>
            </a:r>
          </a:p>
        </p:txBody>
      </p:sp>
      <p:sp>
        <p:nvSpPr>
          <p:cNvPr id="10" name="TextBox 9">
            <a:extLst>
              <a:ext uri="{FF2B5EF4-FFF2-40B4-BE49-F238E27FC236}">
                <a16:creationId xmlns:a16="http://schemas.microsoft.com/office/drawing/2014/main" id="{8757B107-D4AF-2C1C-3752-809EDB2238CC}"/>
              </a:ext>
            </a:extLst>
          </p:cNvPr>
          <p:cNvSpPr txBox="1"/>
          <p:nvPr/>
        </p:nvSpPr>
        <p:spPr>
          <a:xfrm>
            <a:off x="1093639" y="3289939"/>
            <a:ext cx="2470439"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5. Data Model</a:t>
            </a:r>
          </a:p>
        </p:txBody>
      </p:sp>
      <p:sp>
        <p:nvSpPr>
          <p:cNvPr id="11" name="TextBox 10">
            <a:extLst>
              <a:ext uri="{FF2B5EF4-FFF2-40B4-BE49-F238E27FC236}">
                <a16:creationId xmlns:a16="http://schemas.microsoft.com/office/drawing/2014/main" id="{C2D23A9D-C7D5-33AA-BB89-EB51AED1A9C0}"/>
              </a:ext>
            </a:extLst>
          </p:cNvPr>
          <p:cNvSpPr txBox="1"/>
          <p:nvPr/>
        </p:nvSpPr>
        <p:spPr>
          <a:xfrm>
            <a:off x="1093639" y="3830121"/>
            <a:ext cx="4735660"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6. Power BI Dashboard</a:t>
            </a:r>
          </a:p>
        </p:txBody>
      </p:sp>
      <p:sp>
        <p:nvSpPr>
          <p:cNvPr id="12" name="TextBox 11">
            <a:extLst>
              <a:ext uri="{FF2B5EF4-FFF2-40B4-BE49-F238E27FC236}">
                <a16:creationId xmlns:a16="http://schemas.microsoft.com/office/drawing/2014/main" id="{BA8838AC-2EF4-467C-7623-D6EEE7774B8C}"/>
              </a:ext>
            </a:extLst>
          </p:cNvPr>
          <p:cNvSpPr txBox="1"/>
          <p:nvPr/>
        </p:nvSpPr>
        <p:spPr>
          <a:xfrm>
            <a:off x="1093639" y="4910485"/>
            <a:ext cx="9172579"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8. Secondary Analysis (Additional data and Research) </a:t>
            </a:r>
          </a:p>
        </p:txBody>
      </p:sp>
      <p:sp>
        <p:nvSpPr>
          <p:cNvPr id="13" name="TextBox 12">
            <a:extLst>
              <a:ext uri="{FF2B5EF4-FFF2-40B4-BE49-F238E27FC236}">
                <a16:creationId xmlns:a16="http://schemas.microsoft.com/office/drawing/2014/main" id="{CFC72F24-512D-EB8F-A1A4-31D234DE1FA4}"/>
              </a:ext>
            </a:extLst>
          </p:cNvPr>
          <p:cNvSpPr txBox="1"/>
          <p:nvPr/>
        </p:nvSpPr>
        <p:spPr>
          <a:xfrm>
            <a:off x="1093638" y="5458299"/>
            <a:ext cx="9172579" cy="461665"/>
          </a:xfrm>
          <a:prstGeom prst="rect">
            <a:avLst/>
          </a:prstGeom>
          <a:noFill/>
        </p:spPr>
        <p:txBody>
          <a:bodyPr wrap="square" anchor="ctr">
            <a:spAutoFit/>
          </a:bodyPr>
          <a:lstStyle/>
          <a:p>
            <a:pPr algn="just"/>
            <a:r>
              <a:rPr lang="en-GB" sz="2400" b="1" dirty="0">
                <a:solidFill>
                  <a:srgbClr val="D1C2A3"/>
                </a:solidFill>
                <a:latin typeface="Times New Roman" panose="02020603050405020304" pitchFamily="18" charset="0"/>
                <a:cs typeface="Times New Roman" panose="02020603050405020304" pitchFamily="18" charset="0"/>
              </a:rPr>
              <a:t>9. Recommendation </a:t>
            </a:r>
          </a:p>
        </p:txBody>
      </p:sp>
    </p:spTree>
    <p:custDataLst>
      <p:tags r:id="rId1"/>
    </p:custDataLst>
    <p:extLst>
      <p:ext uri="{BB962C8B-B14F-4D97-AF65-F5344CB8AC3E}">
        <p14:creationId xmlns:p14="http://schemas.microsoft.com/office/powerpoint/2010/main" val="9677025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1000"/>
                                        <p:tgtEl>
                                          <p:spTgt spid="9"/>
                                        </p:tgtEl>
                                      </p:cBhvr>
                                    </p:animEffect>
                                    <p:anim calcmode="lin" valueType="num">
                                      <p:cBhvr>
                                        <p:cTn id="57" dur="1000" fill="hold"/>
                                        <p:tgtEl>
                                          <p:spTgt spid="9"/>
                                        </p:tgtEl>
                                        <p:attrNameLst>
                                          <p:attrName>ppt_x</p:attrName>
                                        </p:attrNameLst>
                                      </p:cBhvr>
                                      <p:tavLst>
                                        <p:tav tm="0">
                                          <p:val>
                                            <p:strVal val="#ppt_x"/>
                                          </p:val>
                                        </p:tav>
                                        <p:tav tm="100000">
                                          <p:val>
                                            <p:strVal val="#ppt_x"/>
                                          </p:val>
                                        </p:tav>
                                      </p:tavLst>
                                    </p:anim>
                                    <p:anim calcmode="lin" valueType="num">
                                      <p:cBhvr>
                                        <p:cTn id="5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allAtOnce"/>
      <p:bldP spid="6" grpId="0"/>
      <p:bldP spid="8" grpId="0"/>
      <p:bldP spid="9" grpId="0"/>
      <p:bldP spid="10" grpId="0"/>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A14D0-73F0-6FA4-CC3D-D87AB8606198}"/>
              </a:ext>
            </a:extLst>
          </p:cNvPr>
          <p:cNvSpPr txBox="1"/>
          <p:nvPr/>
        </p:nvSpPr>
        <p:spPr>
          <a:xfrm>
            <a:off x="2932834" y="95889"/>
            <a:ext cx="6094268" cy="707886"/>
          </a:xfrm>
          <a:prstGeom prst="rect">
            <a:avLst/>
          </a:prstGeom>
          <a:noFill/>
        </p:spPr>
        <p:txBody>
          <a:bodyPr wrap="square">
            <a:sp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1. Company Overview</a:t>
            </a:r>
          </a:p>
        </p:txBody>
      </p:sp>
      <p:sp>
        <p:nvSpPr>
          <p:cNvPr id="13" name="TextBox 12">
            <a:extLst>
              <a:ext uri="{FF2B5EF4-FFF2-40B4-BE49-F238E27FC236}">
                <a16:creationId xmlns:a16="http://schemas.microsoft.com/office/drawing/2014/main" id="{7947E36E-4217-DC2C-18F2-40A5A22B3610}"/>
              </a:ext>
            </a:extLst>
          </p:cNvPr>
          <p:cNvSpPr txBox="1"/>
          <p:nvPr/>
        </p:nvSpPr>
        <p:spPr>
          <a:xfrm>
            <a:off x="644236" y="1257300"/>
            <a:ext cx="10692245" cy="5078313"/>
          </a:xfrm>
          <a:prstGeom prst="rect">
            <a:avLst/>
          </a:prstGeom>
          <a:noFill/>
        </p:spPr>
        <p:txBody>
          <a:bodyPr wrap="square" rtlCol="0">
            <a:spAutoFit/>
          </a:bodyPr>
          <a:lstStyle/>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a:t>
            </a:r>
            <a:r>
              <a:rPr lang="en-GB" b="1" dirty="0" err="1">
                <a:solidFill>
                  <a:srgbClr val="D1C2A3"/>
                </a:solidFill>
                <a:latin typeface="Times New Roman" panose="02020603050405020304" pitchFamily="18" charset="0"/>
                <a:cs typeface="Times New Roman" panose="02020603050405020304" pitchFamily="18" charset="0"/>
              </a:rPr>
              <a:t>AirPure</a:t>
            </a:r>
            <a:r>
              <a:rPr lang="en-GB" b="1" dirty="0">
                <a:solidFill>
                  <a:srgbClr val="D1C2A3"/>
                </a:solidFill>
                <a:latin typeface="Times New Roman" panose="02020603050405020304" pitchFamily="18" charset="0"/>
                <a:cs typeface="Times New Roman" panose="02020603050405020304" pitchFamily="18" charset="0"/>
              </a:rPr>
              <a:t> Innovations” </a:t>
            </a:r>
            <a:r>
              <a:rPr lang="en-GB" dirty="0">
                <a:solidFill>
                  <a:srgbClr val="D1C2A3"/>
                </a:solidFill>
                <a:latin typeface="Times New Roman" panose="02020603050405020304" pitchFamily="18" charset="0"/>
                <a:cs typeface="Times New Roman" panose="02020603050405020304" pitchFamily="18" charset="0"/>
              </a:rPr>
              <a:t>is a health-focused startup company tackling India’s air pollution crisis, with 14 Indian cities among the world’s top 20 most polluted.</a:t>
            </a:r>
          </a:p>
          <a:p>
            <a:pPr algn="just"/>
            <a:endParaRPr lang="en-GB" dirty="0">
              <a:solidFill>
                <a:srgbClr val="D1C2A3"/>
              </a:solidFill>
              <a:latin typeface="Times New Roman" panose="02020603050405020304" pitchFamily="18" charset="0"/>
              <a:cs typeface="Times New Roman" panose="02020603050405020304" pitchFamily="18" charset="0"/>
            </a:endParaRPr>
          </a:p>
          <a:p>
            <a:pPr algn="just"/>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The company is in early stages of developing smart air purifiers according to urban Indian conditions.</a:t>
            </a: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A mission is to promote healthier indoor living through data-driven innovation, </a:t>
            </a:r>
            <a:r>
              <a:rPr lang="en-GB" dirty="0" err="1">
                <a:solidFill>
                  <a:srgbClr val="D1C2A3"/>
                </a:solidFill>
                <a:latin typeface="Times New Roman" panose="02020603050405020304" pitchFamily="18" charset="0"/>
                <a:cs typeface="Times New Roman" panose="02020603050405020304" pitchFamily="18" charset="0"/>
              </a:rPr>
              <a:t>AirPure</a:t>
            </a:r>
            <a:r>
              <a:rPr lang="en-GB" dirty="0">
                <a:solidFill>
                  <a:srgbClr val="D1C2A3"/>
                </a:solidFill>
                <a:latin typeface="Times New Roman" panose="02020603050405020304" pitchFamily="18" charset="0"/>
                <a:cs typeface="Times New Roman" panose="02020603050405020304" pitchFamily="18" charset="0"/>
              </a:rPr>
              <a:t> is leveraging environment and behavioural data to guide strategic decisions.</a:t>
            </a:r>
          </a:p>
          <a:p>
            <a:pPr algn="just"/>
            <a:endParaRPr lang="en-GB" dirty="0">
              <a:solidFill>
                <a:srgbClr val="D1C2A3"/>
              </a:solidFill>
              <a:latin typeface="Times New Roman" panose="02020603050405020304" pitchFamily="18" charset="0"/>
              <a:cs typeface="Times New Roman" panose="02020603050405020304" pitchFamily="18" charset="0"/>
            </a:endParaRPr>
          </a:p>
          <a:p>
            <a:pPr algn="just"/>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The leadership team, led by COO Tony Sharma, is committed to aligning </a:t>
            </a:r>
            <a:r>
              <a:rPr lang="en-GB" b="1" dirty="0">
                <a:solidFill>
                  <a:srgbClr val="D1C2A3"/>
                </a:solidFill>
                <a:latin typeface="Times New Roman" panose="02020603050405020304" pitchFamily="18" charset="0"/>
                <a:cs typeface="Times New Roman" panose="02020603050405020304" pitchFamily="18" charset="0"/>
              </a:rPr>
              <a:t>product design, R&amp;D, and marketing</a:t>
            </a:r>
            <a:r>
              <a:rPr lang="en-GB" dirty="0">
                <a:solidFill>
                  <a:srgbClr val="D1C2A3"/>
                </a:solidFill>
                <a:latin typeface="Times New Roman" panose="02020603050405020304" pitchFamily="18" charset="0"/>
                <a:cs typeface="Times New Roman" panose="02020603050405020304" pitchFamily="18" charset="0"/>
              </a:rPr>
              <a:t> with real-world pollution challenges and consumer needs. And Peter Pandey, a Data Analyst, to assist in gathering insights for strategic decisions</a:t>
            </a:r>
          </a:p>
          <a:p>
            <a:pPr algn="just"/>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890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3ED652-EE45-A023-9EE2-3EBCDD36322F}"/>
              </a:ext>
            </a:extLst>
          </p:cNvPr>
          <p:cNvSpPr txBox="1"/>
          <p:nvPr/>
        </p:nvSpPr>
        <p:spPr>
          <a:xfrm>
            <a:off x="3048866" y="103909"/>
            <a:ext cx="6094268" cy="707886"/>
          </a:xfrm>
          <a:prstGeom prst="rect">
            <a:avLst/>
          </a:prstGeom>
          <a:noFill/>
        </p:spPr>
        <p:txBody>
          <a:bodyPr wrap="square">
            <a:sp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2. Problem Statement </a:t>
            </a:r>
          </a:p>
        </p:txBody>
      </p:sp>
      <p:sp>
        <p:nvSpPr>
          <p:cNvPr id="6" name="TextBox 5">
            <a:extLst>
              <a:ext uri="{FF2B5EF4-FFF2-40B4-BE49-F238E27FC236}">
                <a16:creationId xmlns:a16="http://schemas.microsoft.com/office/drawing/2014/main" id="{1B75DB3F-B3E9-0851-1BFC-9F772841BF34}"/>
              </a:ext>
            </a:extLst>
          </p:cNvPr>
          <p:cNvSpPr txBox="1"/>
          <p:nvPr/>
        </p:nvSpPr>
        <p:spPr>
          <a:xfrm>
            <a:off x="644236" y="1257300"/>
            <a:ext cx="10692245" cy="5078313"/>
          </a:xfrm>
          <a:prstGeom prst="rect">
            <a:avLst/>
          </a:prstGeom>
          <a:noFill/>
        </p:spPr>
        <p:txBody>
          <a:bodyPr wrap="square" rtlCol="0">
            <a:spAutoFit/>
          </a:bodyPr>
          <a:lstStyle/>
          <a:p>
            <a:pPr marL="285750" indent="-285750">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More people in India are aware of air pollution, but  “</a:t>
            </a:r>
            <a:r>
              <a:rPr lang="en-GB" b="1" dirty="0" err="1">
                <a:solidFill>
                  <a:srgbClr val="D1C2A3"/>
                </a:solidFill>
                <a:latin typeface="Times New Roman" panose="02020603050405020304" pitchFamily="18" charset="0"/>
                <a:cs typeface="Times New Roman" panose="02020603050405020304" pitchFamily="18" charset="0"/>
              </a:rPr>
              <a:t>AirPure</a:t>
            </a:r>
            <a:r>
              <a:rPr lang="en-GB" b="1" dirty="0">
                <a:solidFill>
                  <a:srgbClr val="D1C2A3"/>
                </a:solidFill>
                <a:latin typeface="Times New Roman" panose="02020603050405020304" pitchFamily="18" charset="0"/>
                <a:cs typeface="Times New Roman" panose="02020603050405020304" pitchFamily="18" charset="0"/>
              </a:rPr>
              <a:t> Innovations”</a:t>
            </a:r>
            <a:r>
              <a:rPr lang="en-GB" dirty="0">
                <a:solidFill>
                  <a:srgbClr val="D1C2A3"/>
                </a:solidFill>
                <a:latin typeface="Times New Roman" panose="02020603050405020304" pitchFamily="18" charset="0"/>
                <a:cs typeface="Times New Roman" panose="02020603050405020304" pitchFamily="18" charset="0"/>
              </a:rPr>
              <a:t> is not sure if people will buy air purifiers in the Future.</a:t>
            </a:r>
          </a:p>
          <a:p>
            <a:pPr marL="285750" indent="-285750">
              <a:buFont typeface="Arial" panose="020B0604020202020204" pitchFamily="34" charset="0"/>
              <a:buChar char="•"/>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Before spending a lot of money on research and production, the company needs to find answers to some important questions:</a:t>
            </a:r>
          </a:p>
          <a:p>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What pollutants or particles should their air purifier target? </a:t>
            </a:r>
          </a:p>
          <a:p>
            <a:pPr lvl="1"/>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What are the most essential features that should be incorporated into the air purifier?</a:t>
            </a:r>
          </a:p>
          <a:p>
            <a:pPr lvl="1"/>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Which cities have the highest demand for air purifiers, and what is the market size in these regions?  </a:t>
            </a:r>
          </a:p>
          <a:p>
            <a:pPr lvl="1"/>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How can R&amp;D be aligned with localized pollution patterns? </a:t>
            </a:r>
          </a:p>
          <a:p>
            <a:pPr lvl="1"/>
            <a:endParaRPr lang="en-GB" dirty="0">
              <a:solidFill>
                <a:srgbClr val="D1C2A3"/>
              </a:solidFill>
              <a:latin typeface="Times New Roman" panose="02020603050405020304" pitchFamily="18" charset="0"/>
              <a:cs typeface="Times New Roman" panose="02020603050405020304" pitchFamily="18" charset="0"/>
            </a:endParaRPr>
          </a:p>
          <a:p>
            <a:pPr lvl="1"/>
            <a:endParaRPr lang="en-GB" dirty="0">
              <a:solidFill>
                <a:srgbClr val="D1C2A3"/>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A lack of clarity on these questions poses a risk to resource allocation and product-market fit.</a:t>
            </a:r>
          </a:p>
          <a:p>
            <a:endParaRPr lang="en-GB" dirty="0">
              <a:solidFill>
                <a:srgbClr val="D1C2A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9506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D86A19-B7E3-8E1C-3BBB-24A5025E4678}"/>
              </a:ext>
            </a:extLst>
          </p:cNvPr>
          <p:cNvSpPr txBox="1"/>
          <p:nvPr/>
        </p:nvSpPr>
        <p:spPr>
          <a:xfrm>
            <a:off x="3048866" y="103909"/>
            <a:ext cx="6094268" cy="707886"/>
          </a:xfrm>
          <a:prstGeom prst="rect">
            <a:avLst/>
          </a:prstGeom>
          <a:noFill/>
        </p:spPr>
        <p:txBody>
          <a:bodyPr wrap="square">
            <a:sp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3. Objectives</a:t>
            </a:r>
          </a:p>
        </p:txBody>
      </p:sp>
      <p:sp>
        <p:nvSpPr>
          <p:cNvPr id="7" name="TextBox 6">
            <a:extLst>
              <a:ext uri="{FF2B5EF4-FFF2-40B4-BE49-F238E27FC236}">
                <a16:creationId xmlns:a16="http://schemas.microsoft.com/office/drawing/2014/main" id="{74FE5E86-46B2-3131-A337-E99712B4EA34}"/>
              </a:ext>
            </a:extLst>
          </p:cNvPr>
          <p:cNvSpPr txBox="1"/>
          <p:nvPr/>
        </p:nvSpPr>
        <p:spPr>
          <a:xfrm>
            <a:off x="644236" y="1257300"/>
            <a:ext cx="10692245" cy="5632311"/>
          </a:xfrm>
          <a:prstGeom prst="rect">
            <a:avLst/>
          </a:prstGeom>
          <a:noFill/>
        </p:spPr>
        <p:txBody>
          <a:bodyPr wrap="square" rtlCol="0">
            <a:spAutoFit/>
          </a:bodyPr>
          <a:lstStyle/>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The aims of the project is to deliver affordable, effective and intelligent air purification solutions by analysing AQI trends, Health impacts, and  Consumer behaviour to Indian urban pollution patterns.</a:t>
            </a:r>
          </a:p>
          <a:p>
            <a:pPr algn="just"/>
            <a:endParaRPr lang="en-GB" dirty="0">
              <a:solidFill>
                <a:srgbClr val="D1C2A3"/>
              </a:solidFill>
              <a:latin typeface="Times New Roman" panose="02020603050405020304" pitchFamily="18" charset="0"/>
              <a:cs typeface="Times New Roman" panose="02020603050405020304" pitchFamily="18" charset="0"/>
            </a:endParaRPr>
          </a:p>
          <a:p>
            <a:pPr algn="just"/>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Strategic research focuses on three dimensions analysis:</a:t>
            </a:r>
          </a:p>
          <a:p>
            <a:pPr algn="just"/>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Severity Mapping - Identify cities experiencing high or worsening AQI (Air Quality Index) levels to prioritize target markets.</a:t>
            </a:r>
          </a:p>
          <a:p>
            <a:pPr lvl="1" algn="just"/>
            <a:r>
              <a:rPr lang="en-GB" dirty="0">
                <a:solidFill>
                  <a:srgbClr val="D1C2A3"/>
                </a:solidFill>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Health Impact Correlation – Analyse the relationship between pollution exposure and public health outcomes to justify product relevance.</a:t>
            </a:r>
          </a:p>
          <a:p>
            <a:pPr lvl="1" algn="just"/>
            <a:endParaRPr lang="en-GB" dirty="0">
              <a:solidFill>
                <a:srgbClr val="D1C2A3"/>
              </a:solidFill>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Demand Triggers - Examine the relationship between pollution spikes and shifts with consumer interest in air purifiers to detect seasonal or event-based demand. 	</a:t>
            </a:r>
          </a:p>
          <a:p>
            <a:pPr marL="742950" lvl="1" indent="-285750" algn="just">
              <a:buFont typeface="Arial" panose="020B0604020202020204" pitchFamily="34" charset="0"/>
              <a:buChar char="•"/>
            </a:pPr>
            <a:endParaRPr lang="en-GB" dirty="0">
              <a:solidFill>
                <a:srgbClr val="D1C2A3"/>
              </a:solidFill>
              <a:latin typeface="Times New Roman" panose="02020603050405020304" pitchFamily="18" charset="0"/>
              <a:cs typeface="Times New Roman" panose="02020603050405020304" pitchFamily="18" charset="0"/>
            </a:endParaRPr>
          </a:p>
          <a:p>
            <a:pPr lvl="1" algn="just"/>
            <a:endParaRPr lang="en-GB" dirty="0">
              <a:solidFill>
                <a:srgbClr val="D1C2A3"/>
              </a:solidFill>
              <a:latin typeface="Times New Roman" panose="02020603050405020304" pitchFamily="18" charset="0"/>
              <a:cs typeface="Times New Roman" panose="02020603050405020304" pitchFamily="18" charset="0"/>
            </a:endParaRPr>
          </a:p>
          <a:p>
            <a:pPr algn="just"/>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40862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70399A-2CCA-1C6A-E068-28D2D9432632}"/>
              </a:ext>
            </a:extLst>
          </p:cNvPr>
          <p:cNvSpPr txBox="1"/>
          <p:nvPr/>
        </p:nvSpPr>
        <p:spPr>
          <a:xfrm>
            <a:off x="3048866" y="103909"/>
            <a:ext cx="6094268" cy="707886"/>
          </a:xfrm>
          <a:prstGeom prst="rect">
            <a:avLst/>
          </a:prstGeom>
          <a:noFill/>
        </p:spPr>
        <p:txBody>
          <a:bodyPr wrap="square">
            <a:sp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4. Data Overview</a:t>
            </a:r>
          </a:p>
        </p:txBody>
      </p:sp>
      <p:sp>
        <p:nvSpPr>
          <p:cNvPr id="5" name="TextBox 4">
            <a:extLst>
              <a:ext uri="{FF2B5EF4-FFF2-40B4-BE49-F238E27FC236}">
                <a16:creationId xmlns:a16="http://schemas.microsoft.com/office/drawing/2014/main" id="{2284A913-FEDF-A3E8-6180-DA534D8FB55D}"/>
              </a:ext>
            </a:extLst>
          </p:cNvPr>
          <p:cNvSpPr txBox="1"/>
          <p:nvPr/>
        </p:nvSpPr>
        <p:spPr>
          <a:xfrm>
            <a:off x="665018" y="1007918"/>
            <a:ext cx="10827327" cy="6370975"/>
          </a:xfrm>
          <a:prstGeom prst="rect">
            <a:avLst/>
          </a:prstGeom>
          <a:noFill/>
        </p:spPr>
        <p:txBody>
          <a:bodyPr wrap="square" rtlCol="0">
            <a:spAutoFit/>
          </a:bodyPr>
          <a:lstStyle/>
          <a:p>
            <a:pPr marL="285750" indent="-285750" algn="just">
              <a:buFont typeface="Wingdings" panose="05000000000000000000" pitchFamily="2" charset="2"/>
              <a:buChar char="Ø"/>
            </a:pPr>
            <a:r>
              <a:rPr lang="en-GB" dirty="0">
                <a:solidFill>
                  <a:srgbClr val="D1C2A3"/>
                </a:solidFill>
                <a:latin typeface="Times New Roman" panose="02020603050405020304" pitchFamily="18" charset="0"/>
                <a:cs typeface="Times New Roman" panose="02020603050405020304" pitchFamily="18" charset="0"/>
              </a:rPr>
              <a:t>“</a:t>
            </a:r>
            <a:r>
              <a:rPr lang="en-GB" dirty="0" err="1">
                <a:solidFill>
                  <a:srgbClr val="D1C2A3"/>
                </a:solidFill>
                <a:latin typeface="Times New Roman" panose="02020603050405020304" pitchFamily="18" charset="0"/>
                <a:cs typeface="Times New Roman" panose="02020603050405020304" pitchFamily="18" charset="0"/>
              </a:rPr>
              <a:t>AirPure</a:t>
            </a:r>
            <a:r>
              <a:rPr lang="en-GB" dirty="0">
                <a:solidFill>
                  <a:srgbClr val="D1C2A3"/>
                </a:solidFill>
                <a:latin typeface="Times New Roman" panose="02020603050405020304" pitchFamily="18" charset="0"/>
                <a:cs typeface="Times New Roman" panose="02020603050405020304" pitchFamily="18" charset="0"/>
              </a:rPr>
              <a:t> Innovation” is using a combination of primary and secondary datasets from </a:t>
            </a:r>
            <a:r>
              <a:rPr lang="en-GB" dirty="0" err="1">
                <a:solidFill>
                  <a:srgbClr val="D1C2A3"/>
                </a:solidFill>
                <a:latin typeface="Times New Roman" panose="02020603050405020304" pitchFamily="18" charset="0"/>
                <a:cs typeface="Times New Roman" panose="02020603050405020304" pitchFamily="18" charset="0"/>
              </a:rPr>
              <a:t>Dataful</a:t>
            </a:r>
            <a:r>
              <a:rPr lang="en-GB" dirty="0">
                <a:solidFill>
                  <a:srgbClr val="D1C2A3"/>
                </a:solidFill>
                <a:latin typeface="Times New Roman" panose="02020603050405020304" pitchFamily="18" charset="0"/>
                <a:cs typeface="Times New Roman" panose="02020603050405020304" pitchFamily="18" charset="0"/>
              </a:rPr>
              <a:t> platform to conduct market fit research. These datasets cover AQI data,  pollution, health, population, and vehicle trends from 2022 to 2025.</a:t>
            </a: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Primary Dataset</a:t>
            </a:r>
          </a:p>
          <a:p>
            <a:pPr marL="742950" lvl="1" indent="-285750" algn="just">
              <a:buFont typeface="Wingdings" panose="05000000000000000000" pitchFamily="2" charset="2"/>
              <a:buChar char="§"/>
            </a:pPr>
            <a:r>
              <a:rPr lang="en-GB" b="1" dirty="0">
                <a:solidFill>
                  <a:srgbClr val="D1C2A3"/>
                </a:solidFill>
                <a:latin typeface="Times New Roman" panose="02020603050405020304" pitchFamily="18" charset="0"/>
                <a:cs typeface="Times New Roman" panose="02020603050405020304" pitchFamily="18" charset="0"/>
              </a:rPr>
              <a:t>AQI Data (2022 - 2025)</a:t>
            </a:r>
          </a:p>
          <a:p>
            <a:pPr marL="1200150" lvl="2" indent="-285750" algn="just">
              <a:buFont typeface="Wingdings" panose="05000000000000000000" pitchFamily="2" charset="2"/>
              <a:buChar char="ü"/>
            </a:pPr>
            <a:r>
              <a:rPr lang="en-GB" dirty="0">
                <a:solidFill>
                  <a:srgbClr val="D1C2A3"/>
                </a:solidFill>
                <a:latin typeface="Times New Roman" panose="02020603050405020304" pitchFamily="18" charset="0"/>
                <a:cs typeface="Times New Roman" panose="02020603050405020304" pitchFamily="18" charset="0"/>
              </a:rPr>
              <a:t>Indian City-level air quality index (AQI) data over time. Includes key pollutants such as PM2.5, PM</a:t>
            </a:r>
            <a:r>
              <a:rPr lang="en-GB" dirty="0">
                <a:solidFill>
                  <a:srgbClr val="D1C2A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a:t>
            </a:r>
            <a:r>
              <a:rPr lang="en-GB" dirty="0">
                <a:solidFill>
                  <a:srgbClr val="D1C2A3"/>
                </a:solidFill>
                <a:latin typeface="Times New Roman" panose="02020603050405020304" pitchFamily="18" charset="0"/>
                <a:cs typeface="Times New Roman" panose="02020603050405020304" pitchFamily="18" charset="0"/>
              </a:rPr>
              <a:t>, </a:t>
            </a:r>
            <a:r>
              <a:rPr lang="en-GB" dirty="0">
                <a:solidFill>
                  <a:srgbClr val="D1C2A3"/>
                </a:solidFill>
              </a:rPr>
              <a:t>NO₂, CO, O</a:t>
            </a:r>
            <a:r>
              <a:rPr lang="en-GB" baseline="-25000" dirty="0">
                <a:solidFill>
                  <a:srgbClr val="D1C2A3"/>
                </a:solidFill>
              </a:rPr>
              <a:t>3</a:t>
            </a:r>
            <a:r>
              <a:rPr lang="en-GB" dirty="0">
                <a:solidFill>
                  <a:srgbClr val="D1C2A3"/>
                </a:solidFill>
              </a:rPr>
              <a:t>, etc. This data is used for severity mapping and identifying pollution trends.</a:t>
            </a:r>
          </a:p>
          <a:p>
            <a:pPr marL="1200150" lvl="2" indent="-285750" algn="just">
              <a:buFont typeface="Wingdings" panose="05000000000000000000" pitchFamily="2" charset="2"/>
              <a:buChar char="ü"/>
            </a:pPr>
            <a:endParaRPr lang="en-GB" dirty="0">
              <a:solidFill>
                <a:srgbClr val="D1C2A3"/>
              </a:solidFill>
            </a:endParaRPr>
          </a:p>
          <a:p>
            <a:pPr marL="285750" indent="-285750" algn="just">
              <a:buFont typeface="Wingdings" panose="05000000000000000000" pitchFamily="2" charset="2"/>
              <a:buChar char="Ø"/>
            </a:pPr>
            <a:r>
              <a:rPr lang="en-GB" b="1" dirty="0">
                <a:solidFill>
                  <a:srgbClr val="D1C2A3"/>
                </a:solidFill>
              </a:rPr>
              <a:t>Secondary Datasets</a:t>
            </a:r>
          </a:p>
          <a:p>
            <a:pPr marL="800100" lvl="1" indent="-342900" algn="just">
              <a:buFont typeface="+mj-lt"/>
              <a:buAutoNum type="arabicPeriod"/>
            </a:pPr>
            <a:r>
              <a:rPr lang="en-GB" b="1" dirty="0">
                <a:solidFill>
                  <a:srgbClr val="D1C2A3"/>
                </a:solidFill>
              </a:rPr>
              <a:t>Health-Related Consequences</a:t>
            </a:r>
          </a:p>
          <a:p>
            <a:pPr marL="1257300" lvl="2" indent="-342900" algn="just">
              <a:buFont typeface="Wingdings" panose="05000000000000000000" pitchFamily="2" charset="2"/>
              <a:buChar char="ü"/>
            </a:pPr>
            <a:r>
              <a:rPr lang="en-GB" dirty="0">
                <a:solidFill>
                  <a:srgbClr val="D1C2A3"/>
                </a:solidFill>
              </a:rPr>
              <a:t>Tracks health issues linked to air pollution, such as respiratory infections, asthma, and cardiovascular cases. Help to analyse the impact of pollution on public health.</a:t>
            </a:r>
          </a:p>
          <a:p>
            <a:pPr marL="800100" lvl="1" indent="-342900" algn="just">
              <a:buFont typeface="+mj-lt"/>
              <a:buAutoNum type="arabicPeriod"/>
            </a:pPr>
            <a:endParaRPr lang="en-GB" dirty="0">
              <a:solidFill>
                <a:srgbClr val="D1C2A3"/>
              </a:solidFill>
            </a:endParaRPr>
          </a:p>
          <a:p>
            <a:pPr marL="800100" lvl="1" indent="-342900" algn="just">
              <a:buFont typeface="+mj-lt"/>
              <a:buAutoNum type="arabicPeriod"/>
            </a:pPr>
            <a:r>
              <a:rPr lang="en-GB" b="1" dirty="0">
                <a:solidFill>
                  <a:srgbClr val="D1C2A3"/>
                </a:solidFill>
              </a:rPr>
              <a:t>Population Projection</a:t>
            </a:r>
          </a:p>
          <a:p>
            <a:pPr marL="1257300" lvl="2" indent="-342900" algn="just">
              <a:buFont typeface="Wingdings" panose="05000000000000000000" pitchFamily="2" charset="2"/>
              <a:buChar char="ü"/>
            </a:pPr>
            <a:r>
              <a:rPr lang="en-GB" dirty="0">
                <a:solidFill>
                  <a:srgbClr val="D1C2A3"/>
                </a:solidFill>
              </a:rPr>
              <a:t>City-level population figures. Supports market size estimation and demand potential analysis.</a:t>
            </a:r>
          </a:p>
          <a:p>
            <a:pPr lvl="2" algn="just"/>
            <a:endParaRPr lang="en-GB" dirty="0">
              <a:solidFill>
                <a:srgbClr val="D1C2A3"/>
              </a:solidFill>
            </a:endParaRPr>
          </a:p>
          <a:p>
            <a:pPr marL="800100" lvl="1" indent="-342900" algn="just">
              <a:buFont typeface="+mj-lt"/>
              <a:buAutoNum type="arabicPeriod"/>
            </a:pPr>
            <a:r>
              <a:rPr lang="en-GB" b="1" dirty="0">
                <a:solidFill>
                  <a:srgbClr val="D1C2A3"/>
                </a:solidFill>
              </a:rPr>
              <a:t>Vehicle Data</a:t>
            </a:r>
          </a:p>
          <a:p>
            <a:pPr marL="1200150" lvl="2" indent="-285750" algn="just">
              <a:buFont typeface="Wingdings" panose="05000000000000000000" pitchFamily="2" charset="2"/>
              <a:buChar char="ü"/>
            </a:pPr>
            <a:r>
              <a:rPr lang="en-GB" dirty="0">
                <a:solidFill>
                  <a:srgbClr val="D1C2A3"/>
                </a:solidFill>
              </a:rPr>
              <a:t>Contains numbers of registered vehicles by fuel type (e.g., petrol, diesel, electric, etc). Used to explore the link between vehicle emissions and AQI.</a:t>
            </a:r>
          </a:p>
          <a:p>
            <a:pPr marL="285750" indent="-285750" algn="just">
              <a:buFont typeface="Wingdings" panose="05000000000000000000" pitchFamily="2" charset="2"/>
              <a:buChar char="Ø"/>
            </a:pPr>
            <a:endParaRPr lang="en-GB" dirty="0">
              <a:solidFill>
                <a:srgbClr val="D1C2A3"/>
              </a:solidFill>
            </a:endParaRPr>
          </a:p>
          <a:p>
            <a:pPr lvl="2" algn="just"/>
            <a:r>
              <a:rPr lang="en-GB" baseline="-25000" dirty="0">
                <a:solidFill>
                  <a:srgbClr val="D1C2A3"/>
                </a:solidFill>
              </a:rPr>
              <a:t> </a:t>
            </a:r>
            <a:endParaRPr lang="en-GB" baseline="-25000" dirty="0">
              <a:solidFill>
                <a:srgbClr val="D1C2A3"/>
              </a:solidFill>
              <a:latin typeface="Times New Roman" panose="02020603050405020304" pitchFamily="18" charset="0"/>
              <a:cs typeface="Times New Roman" panose="02020603050405020304" pitchFamily="18" charset="0"/>
            </a:endParaRPr>
          </a:p>
          <a:p>
            <a:pPr marL="1200150" lvl="2" indent="-285750" algn="just">
              <a:buFont typeface="Wingdings" panose="05000000000000000000" pitchFamily="2" charset="2"/>
              <a:buChar char="q"/>
            </a:pPr>
            <a:endParaRPr lang="en-GB" dirty="0">
              <a:solidFill>
                <a:srgbClr val="D1C2A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0835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ACDE1AB9-C6C0-1915-0D97-583BBB4A842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extBox 1">
            <a:extLst>
              <a:ext uri="{FF2B5EF4-FFF2-40B4-BE49-F238E27FC236}">
                <a16:creationId xmlns:a16="http://schemas.microsoft.com/office/drawing/2014/main" id="{05975B64-E135-C7E0-5158-7927D7358C97}"/>
              </a:ext>
            </a:extLst>
          </p:cNvPr>
          <p:cNvSpPr txBox="1"/>
          <p:nvPr/>
        </p:nvSpPr>
        <p:spPr>
          <a:xfrm>
            <a:off x="78971" y="135083"/>
            <a:ext cx="2752354" cy="1963882"/>
          </a:xfrm>
          <a:prstGeom prst="ellipse">
            <a:avLst/>
          </a:prstGeom>
          <a:solidFill>
            <a:srgbClr val="D1C2A3"/>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2A445C"/>
                </a:solidFill>
                <a:latin typeface="Times New Roman" panose="02020603050405020304" pitchFamily="18" charset="0"/>
                <a:ea typeface="+mj-ea"/>
                <a:cs typeface="Times New Roman" panose="02020603050405020304" pitchFamily="18" charset="0"/>
              </a:rPr>
              <a:t>5. Data Model</a:t>
            </a:r>
          </a:p>
        </p:txBody>
      </p:sp>
    </p:spTree>
    <p:extLst>
      <p:ext uri="{BB962C8B-B14F-4D97-AF65-F5344CB8AC3E}">
        <p14:creationId xmlns:p14="http://schemas.microsoft.com/office/powerpoint/2010/main" val="3237970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D6723A-B818-8787-7807-28333886CFE4}"/>
              </a:ext>
            </a:extLst>
          </p:cNvPr>
          <p:cNvSpPr txBox="1"/>
          <p:nvPr/>
        </p:nvSpPr>
        <p:spPr>
          <a:xfrm>
            <a:off x="1508414" y="2875002"/>
            <a:ext cx="9175171" cy="1107996"/>
          </a:xfrm>
          <a:prstGeom prst="rect">
            <a:avLst/>
          </a:prstGeom>
          <a:noFill/>
        </p:spPr>
        <p:txBody>
          <a:bodyPr wrap="square">
            <a:spAutoFit/>
          </a:bodyPr>
          <a:lstStyle/>
          <a:p>
            <a:pPr algn="ctr"/>
            <a:r>
              <a:rPr lang="en-GB" sz="6600" b="1" dirty="0">
                <a:solidFill>
                  <a:srgbClr val="D1C2A3"/>
                </a:solidFill>
                <a:latin typeface="Times New Roman" panose="02020603050405020304" pitchFamily="18" charset="0"/>
                <a:cs typeface="Times New Roman" panose="02020603050405020304" pitchFamily="18" charset="0"/>
              </a:rPr>
              <a:t>6. Power BI Dashboard</a:t>
            </a:r>
          </a:p>
        </p:txBody>
      </p:sp>
    </p:spTree>
    <p:extLst>
      <p:ext uri="{BB962C8B-B14F-4D97-AF65-F5344CB8AC3E}">
        <p14:creationId xmlns:p14="http://schemas.microsoft.com/office/powerpoint/2010/main" val="282435569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close-up of a map&#10;&#10;AI-generated content may be incorrect.">
            <a:extLst>
              <a:ext uri="{FF2B5EF4-FFF2-40B4-BE49-F238E27FC236}">
                <a16:creationId xmlns:a16="http://schemas.microsoft.com/office/drawing/2014/main" id="{669EB970-95E8-00D6-0B25-477827E84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73438435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aper with text on it&#10;&#10;AI-generated content may be incorrect.">
            <a:extLst>
              <a:ext uri="{FF2B5EF4-FFF2-40B4-BE49-F238E27FC236}">
                <a16:creationId xmlns:a16="http://schemas.microsoft.com/office/drawing/2014/main" id="{22892DB3-6A12-5A38-95C1-6742F25D6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20869724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data presentation&#10;&#10;AI-generated content may be incorrect.">
            <a:extLst>
              <a:ext uri="{FF2B5EF4-FFF2-40B4-BE49-F238E27FC236}">
                <a16:creationId xmlns:a16="http://schemas.microsoft.com/office/drawing/2014/main" id="{0277AE76-AA9E-FF6A-C072-735C59295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5182130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C38ED591-E740-F60F-E625-F4F4C960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3799416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1EB811C-BA5D-2931-07D4-176640B07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1976629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C4F2CE-337D-DA2B-4B6B-FABED3CD3F16}"/>
              </a:ext>
            </a:extLst>
          </p:cNvPr>
          <p:cNvSpPr txBox="1"/>
          <p:nvPr/>
        </p:nvSpPr>
        <p:spPr>
          <a:xfrm>
            <a:off x="1270289" y="2468737"/>
            <a:ext cx="9651422" cy="1920526"/>
          </a:xfrm>
          <a:prstGeom prst="rect">
            <a:avLst/>
          </a:prstGeom>
          <a:noFill/>
        </p:spPr>
        <p:txBody>
          <a:bodyPr wrap="square">
            <a:spAutoFit/>
          </a:bodyPr>
          <a:lstStyle/>
          <a:p>
            <a:pPr algn="ctr">
              <a:lnSpc>
                <a:spcPct val="90000"/>
              </a:lnSpc>
              <a:spcBef>
                <a:spcPct val="0"/>
              </a:spcBef>
              <a:spcAft>
                <a:spcPts val="600"/>
              </a:spcAft>
            </a:pPr>
            <a:r>
              <a:rPr lang="en-US" sz="6600" b="1" dirty="0">
                <a:solidFill>
                  <a:srgbClr val="D1C2A3"/>
                </a:solidFill>
                <a:latin typeface="Times New Roman" panose="02020603050405020304" pitchFamily="18" charset="0"/>
                <a:cs typeface="Times New Roman" panose="02020603050405020304" pitchFamily="18" charset="0"/>
              </a:rPr>
              <a:t>7. Primary Analysis (Based on Available Data)</a:t>
            </a:r>
          </a:p>
        </p:txBody>
      </p:sp>
    </p:spTree>
    <p:extLst>
      <p:ext uri="{BB962C8B-B14F-4D97-AF65-F5344CB8AC3E}">
        <p14:creationId xmlns:p14="http://schemas.microsoft.com/office/powerpoint/2010/main" val="200637645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F9A78BB4-52DC-F43C-8C9C-89D27305DCF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tretch>
            <a:fillRect/>
          </a:stretch>
        </p:blipFill>
        <p:spPr>
          <a:xfrm>
            <a:off x="8908757" y="864643"/>
            <a:ext cx="2873668" cy="183821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6800F520-F78E-7707-2684-4700E3CC93F8}"/>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900"/>
                    </a14:imgEffect>
                  </a14:imgLayer>
                </a14:imgProps>
              </a:ext>
              <a:ext uri="{28A0092B-C50C-407E-A947-70E740481C1C}">
                <a14:useLocalDpi xmlns:a14="http://schemas.microsoft.com/office/drawing/2010/main" val="0"/>
              </a:ext>
            </a:extLst>
          </a:blip>
          <a:stretch>
            <a:fillRect/>
          </a:stretch>
        </p:blipFill>
        <p:spPr>
          <a:xfrm>
            <a:off x="5804872" y="860902"/>
            <a:ext cx="2873668" cy="178534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5BC86FF-C4F4-2A95-F992-C1B3461AB0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46705" y="3567502"/>
            <a:ext cx="5989328" cy="2141184"/>
          </a:xfrm>
          <a:prstGeom prst="rect">
            <a:avLst/>
          </a:prstGeom>
        </p:spPr>
      </p:pic>
      <p:sp>
        <p:nvSpPr>
          <p:cNvPr id="10" name="TextBox 9">
            <a:extLst>
              <a:ext uri="{FF2B5EF4-FFF2-40B4-BE49-F238E27FC236}">
                <a16:creationId xmlns:a16="http://schemas.microsoft.com/office/drawing/2014/main" id="{109479F8-4453-D09E-A17F-D17553714FCC}"/>
              </a:ext>
            </a:extLst>
          </p:cNvPr>
          <p:cNvSpPr txBox="1"/>
          <p:nvPr/>
        </p:nvSpPr>
        <p:spPr>
          <a:xfrm>
            <a:off x="6809725" y="564717"/>
            <a:ext cx="4582391" cy="296185"/>
          </a:xfrm>
          <a:prstGeom prst="rect">
            <a:avLst/>
          </a:prstGeom>
        </p:spPr>
        <p:txBody>
          <a:bodyPr vert="horz" lIns="91440" tIns="45720" rIns="91440" bIns="45720" numCol="1" rtlCol="0">
            <a:normAutofit fontScale="92500" lnSpcReduction="20000"/>
          </a:bodyPr>
          <a:lstStyle/>
          <a:p>
            <a:pPr marL="114300" algn="just">
              <a:lnSpc>
                <a:spcPct val="90000"/>
              </a:lnSpc>
              <a:spcAft>
                <a:spcPts val="600"/>
              </a:spcAft>
            </a:pPr>
            <a:r>
              <a:rPr lang="en-US" b="1" dirty="0">
                <a:solidFill>
                  <a:srgbClr val="D1C2A3"/>
                </a:solidFill>
                <a:latin typeface="Times New Roman" panose="02020603050405020304" pitchFamily="18" charset="0"/>
                <a:cs typeface="Times New Roman" panose="02020603050405020304" pitchFamily="18" charset="0"/>
              </a:rPr>
              <a:t>Top			        Bottom</a:t>
            </a:r>
          </a:p>
        </p:txBody>
      </p:sp>
      <p:sp>
        <p:nvSpPr>
          <p:cNvPr id="11" name="TextBox 10">
            <a:extLst>
              <a:ext uri="{FF2B5EF4-FFF2-40B4-BE49-F238E27FC236}">
                <a16:creationId xmlns:a16="http://schemas.microsoft.com/office/drawing/2014/main" id="{A69A91E4-5B5B-BE80-015E-08340F628394}"/>
              </a:ext>
            </a:extLst>
          </p:cNvPr>
          <p:cNvSpPr txBox="1"/>
          <p:nvPr/>
        </p:nvSpPr>
        <p:spPr>
          <a:xfrm>
            <a:off x="807026" y="2674831"/>
            <a:ext cx="4409209" cy="1785342"/>
          </a:xfrm>
          <a:prstGeom prst="rect">
            <a:avLst/>
          </a:prstGeom>
        </p:spPr>
        <p:txBody>
          <a:bodyPr vert="horz" lIns="91440" tIns="45720" rIns="91440" bIns="45720" rtlCol="0">
            <a:normAutofit/>
          </a:bodyPr>
          <a:lstStyle/>
          <a:p>
            <a:pPr marL="457200" indent="-342900">
              <a:lnSpc>
                <a:spcPct val="90000"/>
              </a:lnSpc>
              <a:spcAft>
                <a:spcPts val="600"/>
              </a:spcAft>
              <a:buFont typeface="+mj-lt"/>
              <a:buAutoNum type="arabicPeriod"/>
            </a:pPr>
            <a:r>
              <a:rPr lang="en-US" sz="2000" b="1" dirty="0">
                <a:solidFill>
                  <a:srgbClr val="D1C2A3"/>
                </a:solidFill>
                <a:latin typeface="Times New Roman" panose="02020603050405020304" pitchFamily="18" charset="0"/>
                <a:cs typeface="Times New Roman" panose="02020603050405020304" pitchFamily="18" charset="0"/>
              </a:rPr>
              <a:t>List the top 5 and bottom 5 areas with highest average AQI. (Consider areas which contains data from last 6 months: December 2024 to May 2025) </a:t>
            </a:r>
          </a:p>
        </p:txBody>
      </p:sp>
    </p:spTree>
    <p:extLst>
      <p:ext uri="{BB962C8B-B14F-4D97-AF65-F5344CB8AC3E}">
        <p14:creationId xmlns:p14="http://schemas.microsoft.com/office/powerpoint/2010/main" val="1068128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Horizontal)">
                                      <p:cBhvr>
                                        <p:cTn id="7" dur="500"/>
                                        <p:tgtEl>
                                          <p:spTgt spid="7"/>
                                        </p:tgtEl>
                                      </p:cBhvr>
                                    </p:animEffect>
                                  </p:childTnLst>
                                </p:cTn>
                              </p:par>
                              <p:par>
                                <p:cTn id="8" presetID="16" presetClass="entr" presetSubtype="4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outHorizontal)">
                                      <p:cBhvr>
                                        <p:cTn id="10" dur="500"/>
                                        <p:tgtEl>
                                          <p:spTgt spid="9"/>
                                        </p:tgtEl>
                                      </p:cBhvr>
                                    </p:animEffect>
                                  </p:childTnLst>
                                </p:cTn>
                              </p:par>
                              <p:par>
                                <p:cTn id="11" presetID="16" presetClass="entr" presetSubtype="42"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out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colorTemperature colorTemp="59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6" name="Picture 5" descr="A graph of pollutants&#10;&#10;AI-generated content may be incorrect.">
            <a:extLst>
              <a:ext uri="{FF2B5EF4-FFF2-40B4-BE49-F238E27FC236}">
                <a16:creationId xmlns:a16="http://schemas.microsoft.com/office/drawing/2014/main" id="{32123229-9888-4D3D-9C62-CD1A6E08B3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2677" y="284343"/>
            <a:ext cx="4503732" cy="4320000"/>
          </a:xfrm>
          <a:prstGeom prst="rect">
            <a:avLst/>
          </a:prstGeom>
        </p:spPr>
      </p:pic>
      <p:sp>
        <p:nvSpPr>
          <p:cNvPr id="2" name="TextBox 1">
            <a:extLst>
              <a:ext uri="{FF2B5EF4-FFF2-40B4-BE49-F238E27FC236}">
                <a16:creationId xmlns:a16="http://schemas.microsoft.com/office/drawing/2014/main" id="{0A455600-DE13-DA44-3B14-0068FA786996}"/>
              </a:ext>
            </a:extLst>
          </p:cNvPr>
          <p:cNvSpPr txBox="1"/>
          <p:nvPr/>
        </p:nvSpPr>
        <p:spPr>
          <a:xfrm>
            <a:off x="378230" y="539126"/>
            <a:ext cx="5717770" cy="1218818"/>
          </a:xfrm>
          <a:prstGeom prst="rect">
            <a:avLst/>
          </a:prstGeom>
        </p:spPr>
        <p:txBody>
          <a:bodyPr vert="horz" lIns="91440" tIns="45720" rIns="91440" bIns="45720" rtlCol="0" anchor="t">
            <a:normAutofit/>
          </a:bodyPr>
          <a:lstStyle/>
          <a:p>
            <a:pPr marL="685800" indent="-457200">
              <a:lnSpc>
                <a:spcPct val="90000"/>
              </a:lnSpc>
              <a:spcAft>
                <a:spcPts val="600"/>
              </a:spcAft>
              <a:buFont typeface="+mj-lt"/>
              <a:buAutoNum type="arabicPeriod" startAt="2"/>
            </a:pPr>
            <a:r>
              <a:rPr lang="en-US" sz="2000" b="1" dirty="0">
                <a:solidFill>
                  <a:srgbClr val="D1C2A3"/>
                </a:solidFill>
                <a:latin typeface="Times New Roman" panose="02020603050405020304" pitchFamily="18" charset="0"/>
                <a:cs typeface="Times New Roman" panose="02020603050405020304" pitchFamily="18" charset="0"/>
              </a:rPr>
              <a:t>List out top 2 and bottom 2  prominent pollutants for each state of southern India. (Consider data post covid: 2022 onwards)</a:t>
            </a:r>
          </a:p>
        </p:txBody>
      </p:sp>
      <p:pic>
        <p:nvPicPr>
          <p:cNvPr id="10" name="Picture 9" descr="A screenshot of a computer&#10;&#10;AI-generated content may be incorrect.">
            <a:extLst>
              <a:ext uri="{FF2B5EF4-FFF2-40B4-BE49-F238E27FC236}">
                <a16:creationId xmlns:a16="http://schemas.microsoft.com/office/drawing/2014/main" id="{3B02AA75-B198-25E9-692B-EF0A9F86C071}"/>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900"/>
                    </a14:imgEffect>
                  </a14:imgLayer>
                </a14:imgProps>
              </a:ext>
              <a:ext uri="{28A0092B-C50C-407E-A947-70E740481C1C}">
                <a14:useLocalDpi xmlns:a14="http://schemas.microsoft.com/office/drawing/2010/main" val="0"/>
              </a:ext>
            </a:extLst>
          </a:blip>
          <a:stretch>
            <a:fillRect/>
          </a:stretch>
        </p:blipFill>
        <p:spPr>
          <a:xfrm>
            <a:off x="606133" y="1998874"/>
            <a:ext cx="5006545" cy="4320000"/>
          </a:xfrm>
          <a:prstGeom prst="rect">
            <a:avLst/>
          </a:prstGeom>
        </p:spPr>
      </p:pic>
    </p:spTree>
    <p:extLst>
      <p:ext uri="{BB962C8B-B14F-4D97-AF65-F5344CB8AC3E}">
        <p14:creationId xmlns:p14="http://schemas.microsoft.com/office/powerpoint/2010/main" val="8404754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graph of a number of cities&#10;&#10;AI-generated content may be incorrect.">
            <a:extLst>
              <a:ext uri="{FF2B5EF4-FFF2-40B4-BE49-F238E27FC236}">
                <a16:creationId xmlns:a16="http://schemas.microsoft.com/office/drawing/2014/main" id="{44183432-145F-426A-30F2-9087BCDE9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216" y="1004338"/>
            <a:ext cx="4562273" cy="1836314"/>
          </a:xfrm>
          <a:prstGeom prst="rect">
            <a:avLst/>
          </a:prstGeom>
        </p:spPr>
      </p:pic>
      <p:sp>
        <p:nvSpPr>
          <p:cNvPr id="3" name="TextBox 2">
            <a:extLst>
              <a:ext uri="{FF2B5EF4-FFF2-40B4-BE49-F238E27FC236}">
                <a16:creationId xmlns:a16="http://schemas.microsoft.com/office/drawing/2014/main" id="{58F36DDC-93D8-2AC8-10A9-DDDF8594BD60}"/>
              </a:ext>
            </a:extLst>
          </p:cNvPr>
          <p:cNvSpPr txBox="1"/>
          <p:nvPr/>
        </p:nvSpPr>
        <p:spPr>
          <a:xfrm>
            <a:off x="536982" y="1004338"/>
            <a:ext cx="5323492" cy="1614733"/>
          </a:xfrm>
          <a:prstGeom prst="rect">
            <a:avLst/>
          </a:prstGeom>
        </p:spPr>
        <p:txBody>
          <a:bodyPr vert="horz" lIns="91440" tIns="45720" rIns="91440" bIns="45720" rtlCol="0">
            <a:normAutofit/>
          </a:bodyPr>
          <a:lstStyle/>
          <a:p>
            <a:pPr marL="571500" indent="-457200">
              <a:lnSpc>
                <a:spcPct val="90000"/>
              </a:lnSpc>
              <a:spcAft>
                <a:spcPts val="600"/>
              </a:spcAft>
              <a:buFont typeface="+mj-lt"/>
              <a:buAutoNum type="arabicPeriod" startAt="3"/>
            </a:pPr>
            <a:r>
              <a:rPr lang="en-US" sz="2000" b="1" dirty="0">
                <a:solidFill>
                  <a:srgbClr val="D1C2A3"/>
                </a:solidFill>
                <a:latin typeface="Times New Roman" panose="02020603050405020304" pitchFamily="18" charset="0"/>
                <a:cs typeface="Times New Roman" panose="02020603050405020304" pitchFamily="18" charset="0"/>
              </a:rPr>
              <a:t>Does AQI improve on weekends vs weekdays in Indian metro cities (Delhi, Mumbai, Chennai, Kolkata, Bengaluru, Hyderabad, Ahmedabad, Pune)? (Consider data from last 1 year) </a:t>
            </a:r>
          </a:p>
        </p:txBody>
      </p:sp>
      <p:pic>
        <p:nvPicPr>
          <p:cNvPr id="5" name="Picture 4" descr="A graph with numbers and a number of cities&#10;&#10;AI-generated content may be incorrect.">
            <a:extLst>
              <a:ext uri="{FF2B5EF4-FFF2-40B4-BE49-F238E27FC236}">
                <a16:creationId xmlns:a16="http://schemas.microsoft.com/office/drawing/2014/main" id="{13D44D81-778A-31A5-B2DC-DED37F35CF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8226" y="4201956"/>
            <a:ext cx="4562263" cy="176787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B36E8D36-C12B-A966-3747-BBCA77EC5191}"/>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900"/>
                    </a14:imgEffect>
                  </a14:imgLayer>
                </a14:imgProps>
              </a:ext>
              <a:ext uri="{28A0092B-C50C-407E-A947-70E740481C1C}">
                <a14:useLocalDpi xmlns:a14="http://schemas.microsoft.com/office/drawing/2010/main" val="0"/>
              </a:ext>
            </a:extLst>
          </a:blip>
          <a:stretch>
            <a:fillRect/>
          </a:stretch>
        </p:blipFill>
        <p:spPr>
          <a:xfrm>
            <a:off x="744197" y="3429000"/>
            <a:ext cx="4849568" cy="2540832"/>
          </a:xfrm>
          <a:prstGeom prst="rect">
            <a:avLst/>
          </a:prstGeom>
        </p:spPr>
      </p:pic>
      <p:sp>
        <p:nvSpPr>
          <p:cNvPr id="4" name="TextBox 3">
            <a:extLst>
              <a:ext uri="{FF2B5EF4-FFF2-40B4-BE49-F238E27FC236}">
                <a16:creationId xmlns:a16="http://schemas.microsoft.com/office/drawing/2014/main" id="{307DA44B-68DA-2445-7C8E-7BF49919C86A}"/>
              </a:ext>
            </a:extLst>
          </p:cNvPr>
          <p:cNvSpPr txBox="1"/>
          <p:nvPr/>
        </p:nvSpPr>
        <p:spPr>
          <a:xfrm>
            <a:off x="7994192" y="3799554"/>
            <a:ext cx="1451145" cy="402402"/>
          </a:xfrm>
          <a:prstGeom prst="rect">
            <a:avLst/>
          </a:prstGeom>
        </p:spPr>
        <p:txBody>
          <a:bodyPr vert="horz" lIns="91440" tIns="45720" rIns="91440" bIns="45720" rtlCol="0">
            <a:normAutofit/>
          </a:bodyPr>
          <a:lstStyle/>
          <a:p>
            <a:pPr marL="114300">
              <a:lnSpc>
                <a:spcPct val="90000"/>
              </a:lnSpc>
              <a:spcAft>
                <a:spcPts val="600"/>
              </a:spcAft>
            </a:pPr>
            <a:r>
              <a:rPr lang="en-US" sz="2000" b="1" dirty="0">
                <a:solidFill>
                  <a:srgbClr val="D1C2A3"/>
                </a:solidFill>
                <a:latin typeface="Times New Roman" panose="02020603050405020304" pitchFamily="18" charset="0"/>
                <a:cs typeface="Times New Roman" panose="02020603050405020304" pitchFamily="18" charset="0"/>
              </a:rPr>
              <a:t>Weekdays</a:t>
            </a:r>
          </a:p>
        </p:txBody>
      </p:sp>
      <p:sp>
        <p:nvSpPr>
          <p:cNvPr id="6" name="TextBox 5">
            <a:extLst>
              <a:ext uri="{FF2B5EF4-FFF2-40B4-BE49-F238E27FC236}">
                <a16:creationId xmlns:a16="http://schemas.microsoft.com/office/drawing/2014/main" id="{A56C35C4-7022-E3FC-97FF-8E18E7E6BAD8}"/>
              </a:ext>
            </a:extLst>
          </p:cNvPr>
          <p:cNvSpPr txBox="1"/>
          <p:nvPr/>
        </p:nvSpPr>
        <p:spPr>
          <a:xfrm>
            <a:off x="7994191" y="601936"/>
            <a:ext cx="1451145" cy="402402"/>
          </a:xfrm>
          <a:prstGeom prst="rect">
            <a:avLst/>
          </a:prstGeom>
        </p:spPr>
        <p:txBody>
          <a:bodyPr vert="horz" lIns="91440" tIns="45720" rIns="91440" bIns="45720" rtlCol="0">
            <a:normAutofit/>
          </a:bodyPr>
          <a:lstStyle/>
          <a:p>
            <a:pPr marL="114300">
              <a:lnSpc>
                <a:spcPct val="90000"/>
              </a:lnSpc>
              <a:spcAft>
                <a:spcPts val="600"/>
              </a:spcAft>
            </a:pPr>
            <a:r>
              <a:rPr lang="en-US" sz="2000" b="1" dirty="0">
                <a:solidFill>
                  <a:srgbClr val="D1C2A3"/>
                </a:solidFill>
                <a:latin typeface="Times New Roman" panose="02020603050405020304" pitchFamily="18" charset="0"/>
                <a:cs typeface="Times New Roman" panose="02020603050405020304" pitchFamily="18" charset="0"/>
              </a:rPr>
              <a:t>Weekend</a:t>
            </a:r>
          </a:p>
        </p:txBody>
      </p:sp>
    </p:spTree>
    <p:extLst>
      <p:ext uri="{BB962C8B-B14F-4D97-AF65-F5344CB8AC3E}">
        <p14:creationId xmlns:p14="http://schemas.microsoft.com/office/powerpoint/2010/main" val="35778334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par>
                                <p:cTn id="11" presetID="22" presetClass="entr" presetSubtype="1"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49D20A-3A57-34AB-D89D-F4E216DA2D12}"/>
              </a:ext>
            </a:extLst>
          </p:cNvPr>
          <p:cNvSpPr txBox="1"/>
          <p:nvPr/>
        </p:nvSpPr>
        <p:spPr>
          <a:xfrm>
            <a:off x="556182" y="342555"/>
            <a:ext cx="6551200" cy="1015663"/>
          </a:xfrm>
          <a:prstGeom prst="rect">
            <a:avLst/>
          </a:prstGeom>
          <a:noFill/>
        </p:spPr>
        <p:txBody>
          <a:bodyPr wrap="square">
            <a:spAutoFit/>
          </a:bodyPr>
          <a:lstStyle/>
          <a:p>
            <a:pPr marL="342900" indent="-342900">
              <a:buFont typeface="+mj-lt"/>
              <a:buAutoNum type="arabicPeriod" startAt="4"/>
            </a:pPr>
            <a:r>
              <a:rPr lang="en-GB" sz="2000" b="1" dirty="0">
                <a:solidFill>
                  <a:srgbClr val="D1C2A3"/>
                </a:solidFill>
                <a:latin typeface="Times New Roman" panose="02020603050405020304" pitchFamily="18" charset="0"/>
                <a:cs typeface="Times New Roman" panose="02020603050405020304" pitchFamily="18" charset="0"/>
              </a:rPr>
              <a:t>Which months consistently show the worst air quality across Indian states — (Consider top 10 states with high distinct areas) </a:t>
            </a:r>
          </a:p>
        </p:txBody>
      </p:sp>
      <p:pic>
        <p:nvPicPr>
          <p:cNvPr id="5" name="Picture 4" descr="A graph with text and numbers&#10;&#10;AI-generated content may be incorrect.">
            <a:extLst>
              <a:ext uri="{FF2B5EF4-FFF2-40B4-BE49-F238E27FC236}">
                <a16:creationId xmlns:a16="http://schemas.microsoft.com/office/drawing/2014/main" id="{F392C95C-8CD3-9697-22D6-C8C838ADE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789" y="2178651"/>
            <a:ext cx="5069387" cy="3600000"/>
          </a:xfrm>
          <a:prstGeom prst="rect">
            <a:avLst/>
          </a:prstGeom>
        </p:spPr>
      </p:pic>
      <p:pic>
        <p:nvPicPr>
          <p:cNvPr id="7" name="Picture 6" descr="A screenshot of a table&#10;&#10;AI-generated content may be incorrect.">
            <a:extLst>
              <a:ext uri="{FF2B5EF4-FFF2-40B4-BE49-F238E27FC236}">
                <a16:creationId xmlns:a16="http://schemas.microsoft.com/office/drawing/2014/main" id="{D33BDA7E-CA27-EACA-A5AD-3B4268878764}"/>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tretch>
            <a:fillRect/>
          </a:stretch>
        </p:blipFill>
        <p:spPr>
          <a:xfrm>
            <a:off x="7376640" y="612963"/>
            <a:ext cx="3600000" cy="5882430"/>
          </a:xfrm>
          <a:prstGeom prst="rect">
            <a:avLst/>
          </a:prstGeom>
        </p:spPr>
      </p:pic>
    </p:spTree>
    <p:extLst>
      <p:ext uri="{BB962C8B-B14F-4D97-AF65-F5344CB8AC3E}">
        <p14:creationId xmlns:p14="http://schemas.microsoft.com/office/powerpoint/2010/main" val="18156800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CC0398-FBEB-82E0-CD68-2A4678FFB3C7}"/>
              </a:ext>
            </a:extLst>
          </p:cNvPr>
          <p:cNvSpPr txBox="1"/>
          <p:nvPr/>
        </p:nvSpPr>
        <p:spPr>
          <a:xfrm>
            <a:off x="2319771" y="1130533"/>
            <a:ext cx="7200000" cy="1015663"/>
          </a:xfrm>
          <a:prstGeom prst="rect">
            <a:avLst/>
          </a:prstGeom>
          <a:noFill/>
        </p:spPr>
        <p:txBody>
          <a:bodyPr wrap="square">
            <a:spAutoFit/>
          </a:bodyPr>
          <a:lstStyle/>
          <a:p>
            <a:pPr marL="342900" indent="-342900">
              <a:buFont typeface="+mj-lt"/>
              <a:buAutoNum type="arabicPeriod" startAt="5"/>
            </a:pPr>
            <a:r>
              <a:rPr lang="en-GB" sz="2000" b="1" dirty="0">
                <a:solidFill>
                  <a:srgbClr val="D1C2A3"/>
                </a:solidFill>
                <a:latin typeface="Times New Roman" panose="02020603050405020304" pitchFamily="18" charset="0"/>
                <a:cs typeface="Times New Roman" panose="02020603050405020304" pitchFamily="18" charset="0"/>
              </a:rPr>
              <a:t>For the city of Bengaluru, how many days fell under each air quality category (e.g., Good, Moderate, Poor, etc.) between March and May 2025?</a:t>
            </a:r>
          </a:p>
        </p:txBody>
      </p:sp>
      <p:pic>
        <p:nvPicPr>
          <p:cNvPr id="5" name="Picture 4" descr="A close-up of words&#10;&#10;AI-generated content may be incorrect.">
            <a:extLst>
              <a:ext uri="{FF2B5EF4-FFF2-40B4-BE49-F238E27FC236}">
                <a16:creationId xmlns:a16="http://schemas.microsoft.com/office/drawing/2014/main" id="{C025C8C0-EACA-1EE1-37C7-1FDA4CEDA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000" y="3323897"/>
            <a:ext cx="7200000" cy="2048260"/>
          </a:xfrm>
          <a:prstGeom prst="rect">
            <a:avLst/>
          </a:prstGeom>
        </p:spPr>
      </p:pic>
    </p:spTree>
    <p:extLst>
      <p:ext uri="{BB962C8B-B14F-4D97-AF65-F5344CB8AC3E}">
        <p14:creationId xmlns:p14="http://schemas.microsoft.com/office/powerpoint/2010/main" val="42296223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table&#10;&#10;AI-generated content may be incorrect.">
            <a:extLst>
              <a:ext uri="{FF2B5EF4-FFF2-40B4-BE49-F238E27FC236}">
                <a16:creationId xmlns:a16="http://schemas.microsoft.com/office/drawing/2014/main" id="{39C6058D-E972-47FB-5773-4E5895AF03B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tretch>
            <a:fillRect/>
          </a:stretch>
        </p:blipFill>
        <p:spPr>
          <a:xfrm>
            <a:off x="3710018" y="989610"/>
            <a:ext cx="4267570" cy="5448772"/>
          </a:xfrm>
          <a:prstGeom prst="rect">
            <a:avLst/>
          </a:prstGeom>
        </p:spPr>
      </p:pic>
      <p:pic>
        <p:nvPicPr>
          <p:cNvPr id="5" name="Picture 4" descr="A screenshot of a table with numbers and words&#10;&#10;AI-generated content may be incorrect.">
            <a:extLst>
              <a:ext uri="{FF2B5EF4-FFF2-40B4-BE49-F238E27FC236}">
                <a16:creationId xmlns:a16="http://schemas.microsoft.com/office/drawing/2014/main" id="{F59F0A42-95A5-FBCC-A7ED-1F90E286B450}"/>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Layer>
                </a14:imgProps>
              </a:ext>
              <a:ext uri="{28A0092B-C50C-407E-A947-70E740481C1C}">
                <a14:useLocalDpi xmlns:a14="http://schemas.microsoft.com/office/drawing/2010/main" val="0"/>
              </a:ext>
            </a:extLst>
          </a:blip>
          <a:stretch>
            <a:fillRect/>
          </a:stretch>
        </p:blipFill>
        <p:spPr>
          <a:xfrm>
            <a:off x="7982073" y="987982"/>
            <a:ext cx="4019850" cy="5450400"/>
          </a:xfrm>
          <a:prstGeom prst="rect">
            <a:avLst/>
          </a:prstGeom>
        </p:spPr>
      </p:pic>
      <p:sp>
        <p:nvSpPr>
          <p:cNvPr id="6" name="TextBox 5">
            <a:extLst>
              <a:ext uri="{FF2B5EF4-FFF2-40B4-BE49-F238E27FC236}">
                <a16:creationId xmlns:a16="http://schemas.microsoft.com/office/drawing/2014/main" id="{0F5C4D0A-299E-370F-0690-7C133BC6775D}"/>
              </a:ext>
            </a:extLst>
          </p:cNvPr>
          <p:cNvSpPr txBox="1"/>
          <p:nvPr/>
        </p:nvSpPr>
        <p:spPr>
          <a:xfrm>
            <a:off x="456281" y="2186635"/>
            <a:ext cx="2833324" cy="3447832"/>
          </a:xfrm>
          <a:prstGeom prst="rect">
            <a:avLst/>
          </a:prstGeom>
        </p:spPr>
        <p:txBody>
          <a:bodyPr vert="horz" lIns="91440" tIns="45720" rIns="91440" bIns="45720" rtlCol="0" anchor="t">
            <a:normAutofit/>
          </a:bodyPr>
          <a:lstStyle/>
          <a:p>
            <a:pPr marL="571500" indent="-457200">
              <a:lnSpc>
                <a:spcPct val="90000"/>
              </a:lnSpc>
              <a:spcAft>
                <a:spcPts val="600"/>
              </a:spcAft>
              <a:buFont typeface="+mj-lt"/>
              <a:buAutoNum type="arabicPeriod" startAt="6"/>
            </a:pPr>
            <a:r>
              <a:rPr lang="en-US" sz="2000" b="1" dirty="0">
                <a:solidFill>
                  <a:srgbClr val="D1C2A3"/>
                </a:solidFill>
                <a:latin typeface="Times New Roman" panose="02020603050405020304" pitchFamily="18" charset="0"/>
                <a:cs typeface="Times New Roman" panose="02020603050405020304" pitchFamily="18" charset="0"/>
              </a:rPr>
              <a:t>List the top two most reported disease illnesses in each state over the past three years, along with the corresponding average Air Quality Index (AQI) for that period. </a:t>
            </a:r>
          </a:p>
        </p:txBody>
      </p:sp>
    </p:spTree>
    <p:extLst>
      <p:ext uri="{BB962C8B-B14F-4D97-AF65-F5344CB8AC3E}">
        <p14:creationId xmlns:p14="http://schemas.microsoft.com/office/powerpoint/2010/main" val="1154513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FA9404-489A-C4AC-6217-024AF1D1370D}"/>
              </a:ext>
            </a:extLst>
          </p:cNvPr>
          <p:cNvSpPr txBox="1"/>
          <p:nvPr/>
        </p:nvSpPr>
        <p:spPr>
          <a:xfrm>
            <a:off x="3161434" y="712844"/>
            <a:ext cx="6094268" cy="1015663"/>
          </a:xfrm>
          <a:prstGeom prst="rect">
            <a:avLst/>
          </a:prstGeom>
          <a:noFill/>
        </p:spPr>
        <p:txBody>
          <a:bodyPr wrap="square">
            <a:spAutoFit/>
          </a:bodyPr>
          <a:lstStyle/>
          <a:p>
            <a:pPr marL="342900" indent="-342900">
              <a:buFont typeface="+mj-lt"/>
              <a:buAutoNum type="arabicPeriod" startAt="7"/>
            </a:pPr>
            <a:r>
              <a:rPr lang="en-GB" sz="2000" b="1" dirty="0">
                <a:solidFill>
                  <a:srgbClr val="D1C2A3"/>
                </a:solidFill>
                <a:latin typeface="Times New Roman" panose="02020603050405020304" pitchFamily="18" charset="0"/>
                <a:cs typeface="Times New Roman" panose="02020603050405020304" pitchFamily="18" charset="0"/>
              </a:rPr>
              <a:t>List the top 5 states with high EV adoption and analyse if their average AQI is significantly better compared to states with lower EV adoption</a:t>
            </a:r>
          </a:p>
        </p:txBody>
      </p:sp>
      <p:pic>
        <p:nvPicPr>
          <p:cNvPr id="12" name="Picture 11" descr="A screenshot of a computer&#10;&#10;AI-generated content may be incorrect.">
            <a:extLst>
              <a:ext uri="{FF2B5EF4-FFF2-40B4-BE49-F238E27FC236}">
                <a16:creationId xmlns:a16="http://schemas.microsoft.com/office/drawing/2014/main" id="{0146F179-6424-C18B-1178-41A19B83C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7384" y="3020533"/>
            <a:ext cx="4380064" cy="2880000"/>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B49D3876-22A2-3606-524E-1773A98F7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74" y="2660533"/>
            <a:ext cx="3930086" cy="3600000"/>
          </a:xfrm>
          <a:prstGeom prst="rect">
            <a:avLst/>
          </a:prstGeom>
        </p:spPr>
      </p:pic>
      <p:pic>
        <p:nvPicPr>
          <p:cNvPr id="8" name="Picture 7" descr="A screenshot of a graph&#10;&#10;AI-generated content may be incorrect.">
            <a:extLst>
              <a:ext uri="{FF2B5EF4-FFF2-40B4-BE49-F238E27FC236}">
                <a16:creationId xmlns:a16="http://schemas.microsoft.com/office/drawing/2014/main" id="{2A535763-C11B-5D15-5184-772DDB6774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2271" y="2660533"/>
            <a:ext cx="3907255" cy="3600000"/>
          </a:xfrm>
          <a:prstGeom prst="rect">
            <a:avLst/>
          </a:prstGeom>
        </p:spPr>
      </p:pic>
    </p:spTree>
    <p:extLst>
      <p:ext uri="{BB962C8B-B14F-4D97-AF65-F5344CB8AC3E}">
        <p14:creationId xmlns:p14="http://schemas.microsoft.com/office/powerpoint/2010/main" val="7599943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7044F6E-39FA-4757-3156-408F83C892F5}"/>
              </a:ext>
            </a:extLst>
          </p:cNvPr>
          <p:cNvSpPr txBox="1"/>
          <p:nvPr/>
        </p:nvSpPr>
        <p:spPr>
          <a:xfrm>
            <a:off x="1270289" y="1859339"/>
            <a:ext cx="9651422" cy="3139321"/>
          </a:xfrm>
          <a:prstGeom prst="rect">
            <a:avLst/>
          </a:prstGeom>
          <a:noFill/>
        </p:spPr>
        <p:txBody>
          <a:bodyPr wrap="square">
            <a:spAutoFit/>
          </a:bodyPr>
          <a:lstStyle/>
          <a:p>
            <a:pPr algn="ctr"/>
            <a:r>
              <a:rPr lang="en-GB" sz="6600" b="1" dirty="0">
                <a:solidFill>
                  <a:srgbClr val="D1C2A3"/>
                </a:solidFill>
                <a:latin typeface="Times New Roman" panose="02020603050405020304" pitchFamily="18" charset="0"/>
                <a:cs typeface="Times New Roman" panose="02020603050405020304" pitchFamily="18" charset="0"/>
              </a:rPr>
              <a:t>8. Secondary Analysis </a:t>
            </a:r>
          </a:p>
          <a:p>
            <a:pPr algn="ctr"/>
            <a:r>
              <a:rPr lang="en-GB" sz="6600" b="1" dirty="0">
                <a:solidFill>
                  <a:srgbClr val="D1C2A3"/>
                </a:solidFill>
                <a:latin typeface="Times New Roman" panose="02020603050405020304" pitchFamily="18" charset="0"/>
                <a:cs typeface="Times New Roman" panose="02020603050405020304" pitchFamily="18" charset="0"/>
              </a:rPr>
              <a:t>(Additional data and Research) </a:t>
            </a:r>
          </a:p>
        </p:txBody>
      </p:sp>
    </p:spTree>
    <p:extLst>
      <p:ext uri="{BB962C8B-B14F-4D97-AF65-F5344CB8AC3E}">
        <p14:creationId xmlns:p14="http://schemas.microsoft.com/office/powerpoint/2010/main" val="171958268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5AAB3B-3DA5-B7A5-EC0E-AC5255383615}"/>
              </a:ext>
            </a:extLst>
          </p:cNvPr>
          <p:cNvSpPr txBox="1"/>
          <p:nvPr/>
        </p:nvSpPr>
        <p:spPr>
          <a:xfrm>
            <a:off x="768927" y="1003867"/>
            <a:ext cx="10224654" cy="5078313"/>
          </a:xfrm>
          <a:prstGeom prst="rect">
            <a:avLst/>
          </a:prstGeom>
          <a:noFill/>
        </p:spPr>
        <p:txBody>
          <a:bodyPr wrap="square">
            <a:spAutoFit/>
          </a:bodyPr>
          <a:lstStyle/>
          <a:p>
            <a:pPr marL="342900" indent="-342900" algn="just">
              <a:buFont typeface="+mj-lt"/>
              <a:buAutoNum type="arabicPeriod"/>
            </a:pPr>
            <a:r>
              <a:rPr lang="en-GB" dirty="0">
                <a:solidFill>
                  <a:srgbClr val="D1C2A3"/>
                </a:solidFill>
                <a:latin typeface="Times New Roman" panose="02020603050405020304" pitchFamily="18" charset="0"/>
                <a:cs typeface="Times New Roman" panose="02020603050405020304" pitchFamily="18" charset="0"/>
              </a:rPr>
              <a:t>Which age group is most affected by air pollution-related health outcomes — and how does this vary by city? </a:t>
            </a: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According to WHO (World Health Organization) Children, elderly and pregnant women are more affected by   air pollution-related diseases. </a:t>
            </a: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Urban and Rural areas are also affected by air pollution especially those with high traffic density  and industrial activity have higher levels of air pollution.   </a:t>
            </a:r>
          </a:p>
          <a:p>
            <a:pPr marL="742950" lvl="1" indent="-28575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Different cities have varying levels of air pollution due to industrial activity, transportation and weather. For example, Delhi is major metropolitan area face severe air quality challenges, while some smaller cities may have relatively better air quality.</a:t>
            </a:r>
          </a:p>
          <a:p>
            <a:pPr marL="342900" indent="-342900" algn="just">
              <a:buFont typeface="+mj-lt"/>
              <a:buAutoNum type="arabicPeriod"/>
            </a:pPr>
            <a:endParaRPr lang="en-GB" dirty="0">
              <a:solidFill>
                <a:srgbClr val="D1C2A3"/>
              </a:solidFill>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GB" dirty="0">
                <a:solidFill>
                  <a:srgbClr val="D1C2A3"/>
                </a:solidFill>
                <a:latin typeface="Times New Roman" panose="02020603050405020304" pitchFamily="18" charset="0"/>
                <a:cs typeface="Times New Roman" panose="02020603050405020304" pitchFamily="18" charset="0"/>
              </a:rPr>
              <a:t>Who are the major competitors in the Indian air purifier market, and what are their key differentiators (e.g., price, filtration stages, smart features)?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There are various competitors in the Indian air purifier market, but major competitors are Dyson, Phillips, Mi (Xiaomi), Honeywell, Sharp, Kent, LG, Samsung, Blue Star, and Realme.</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If in terms of price Mi and Realme give affordable price with HEPA filters and app control.</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Phillips and Honeywell offer multi-stage filters with middle range price.</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In terms of advanced and smart filtration Dyson offer premium quality.</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LG and Samsung provide stylish and high-tech purifier.</a:t>
            </a:r>
          </a:p>
        </p:txBody>
      </p:sp>
    </p:spTree>
    <p:extLst>
      <p:ext uri="{BB962C8B-B14F-4D97-AF65-F5344CB8AC3E}">
        <p14:creationId xmlns:p14="http://schemas.microsoft.com/office/powerpoint/2010/main" val="20408165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8B182F-CB33-E8DD-8BC1-ACEB3B0A0158}"/>
              </a:ext>
            </a:extLst>
          </p:cNvPr>
          <p:cNvSpPr txBox="1"/>
          <p:nvPr/>
        </p:nvSpPr>
        <p:spPr>
          <a:xfrm>
            <a:off x="706581" y="335845"/>
            <a:ext cx="10224654" cy="6186309"/>
          </a:xfrm>
          <a:prstGeom prst="rect">
            <a:avLst/>
          </a:prstGeom>
          <a:noFill/>
        </p:spPr>
        <p:txBody>
          <a:bodyPr wrap="square">
            <a:spAutoFit/>
          </a:bodyPr>
          <a:lstStyle/>
          <a:p>
            <a:pPr marL="342900" indent="-342900" algn="just">
              <a:buFont typeface="+mj-lt"/>
              <a:buAutoNum type="arabicPeriod" startAt="3"/>
            </a:pPr>
            <a:r>
              <a:rPr lang="en-GB" dirty="0">
                <a:solidFill>
                  <a:srgbClr val="D1C2A3"/>
                </a:solidFill>
                <a:latin typeface="Times New Roman" panose="02020603050405020304" pitchFamily="18" charset="0"/>
                <a:cs typeface="Times New Roman" panose="02020603050405020304" pitchFamily="18" charset="0"/>
              </a:rPr>
              <a:t>What is the relationship between a city’s population size and its average AQI — do larger cities always suffer from worse air quality? (Consider 2024 population and AQI data for this)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 Generally large city with large population have worst average AQI due to transportation, open   burning and industrial activity like Delhi, Mumbai and Kolkata, but this is not always the case, for example some larger cities like Bangalore or Hyderabad had comparatively better AQI because of better urban planning,  favourable weather.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There are many small cities like Kanpur or Ghaziabad had very poor air quality with smaller population  because cities pleased near by industrial zone.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As per the 2024 report, Delhi had approximately 33.8 million population with worst annual AQI around 209</a:t>
            </a:r>
          </a:p>
          <a:p>
            <a:pPr marL="800100" lvl="1" indent="-342900" algn="just">
              <a:buFont typeface="Arial" panose="020B0604020202020204" pitchFamily="34" charset="0"/>
              <a:buChar char="•"/>
            </a:pPr>
            <a:endParaRPr lang="en-GB" dirty="0">
              <a:solidFill>
                <a:srgbClr val="D1C2A3"/>
              </a:solidFill>
              <a:latin typeface="Times New Roman" panose="02020603050405020304" pitchFamily="18" charset="0"/>
              <a:cs typeface="Times New Roman" panose="02020603050405020304" pitchFamily="18" charset="0"/>
            </a:endParaRPr>
          </a:p>
          <a:p>
            <a:pPr marL="342900" indent="-342900" algn="just">
              <a:buFont typeface="+mj-lt"/>
              <a:buAutoNum type="arabicPeriod" startAt="3"/>
            </a:pPr>
            <a:r>
              <a:rPr lang="en-GB" dirty="0">
                <a:solidFill>
                  <a:srgbClr val="D1C2A3"/>
                </a:solidFill>
                <a:latin typeface="Times New Roman" panose="02020603050405020304" pitchFamily="18" charset="0"/>
                <a:cs typeface="Times New Roman" panose="02020603050405020304" pitchFamily="18" charset="0"/>
              </a:rPr>
              <a:t>How aware are Indian citizens of what AQI (Air Quality Index) means — and do they   understand its health implications?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Recent years, the awareness of the Air Quality Index has improved, especially in metro cities such as   Delhi, Mumbai and Bangalore. They know of air pollution but limited aware of detailed understanding of the Air Quality Index   and its health implications.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Some people in cities like Delhi and Mumbai often check AQI through mobile app or news, but some do not fully understand how different  AQI levels affect health.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The people who come from middle- and upper-income groups can correctly understand AQI categories like Poor and   Hazardous and even fewer take specific precautions like wearing masks. </a:t>
            </a:r>
          </a:p>
          <a:p>
            <a:pPr marL="800100" lvl="1" indent="-342900" algn="just">
              <a:buFont typeface="Arial" panose="020B0604020202020204" pitchFamily="34" charset="0"/>
              <a:buChar char="•"/>
            </a:pPr>
            <a:r>
              <a:rPr lang="en-GB" dirty="0">
                <a:solidFill>
                  <a:srgbClr val="D1C2A3"/>
                </a:solidFill>
                <a:latin typeface="Times New Roman" panose="02020603050405020304" pitchFamily="18" charset="0"/>
                <a:cs typeface="Times New Roman" panose="02020603050405020304" pitchFamily="18" charset="0"/>
              </a:rPr>
              <a:t> On the other hand, rural communities and low-income urban area awareness of AQI is very low, they only recognize  pollution only through visible dust and breathing difficulty. </a:t>
            </a:r>
          </a:p>
        </p:txBody>
      </p:sp>
    </p:spTree>
    <p:extLst>
      <p:ext uri="{BB962C8B-B14F-4D97-AF65-F5344CB8AC3E}">
        <p14:creationId xmlns:p14="http://schemas.microsoft.com/office/powerpoint/2010/main" val="41350455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C330194-1479-4DDE-5C58-F6EDE7EE3D20}"/>
              </a:ext>
            </a:extLst>
          </p:cNvPr>
          <p:cNvSpPr txBox="1"/>
          <p:nvPr/>
        </p:nvSpPr>
        <p:spPr>
          <a:xfrm>
            <a:off x="675408" y="751344"/>
            <a:ext cx="10224654" cy="5355312"/>
          </a:xfrm>
          <a:prstGeom prst="rect">
            <a:avLst/>
          </a:prstGeom>
          <a:noFill/>
        </p:spPr>
        <p:txBody>
          <a:bodyPr wrap="square">
            <a:spAutoFit/>
          </a:bodyPr>
          <a:lstStyle/>
          <a:p>
            <a:pPr marL="342900" indent="-342900" algn="just">
              <a:buFont typeface="+mj-lt"/>
              <a:buAutoNum type="arabicPeriod" startAt="5"/>
            </a:pPr>
            <a:r>
              <a:rPr lang="en-GB" b="1" dirty="0">
                <a:solidFill>
                  <a:srgbClr val="D1C2A3"/>
                </a:solidFill>
                <a:latin typeface="Times New Roman" panose="02020603050405020304" pitchFamily="18" charset="0"/>
                <a:cs typeface="Times New Roman" panose="02020603050405020304" pitchFamily="18" charset="0"/>
              </a:rPr>
              <a:t>Which pollution control policies introduced by the Indian government in the past 5 years have had the most measurable impact on improving air quality — and how have these impacts varied across regions or cities? </a:t>
            </a:r>
          </a:p>
          <a:p>
            <a:pPr marL="342900" indent="-342900" algn="just">
              <a:buFont typeface="+mj-lt"/>
              <a:buAutoNum type="arabicPeriod" startAt="5"/>
            </a:pPr>
            <a:endParaRPr lang="en-GB" b="1" dirty="0">
              <a:solidFill>
                <a:srgbClr val="D1C2A3"/>
              </a:solidFill>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GB" b="1" dirty="0">
                <a:solidFill>
                  <a:srgbClr val="D1C2A3"/>
                </a:solidFill>
                <a:latin typeface="Times New Roman" panose="02020603050405020304" pitchFamily="18" charset="0"/>
                <a:cs typeface="Times New Roman" panose="02020603050405020304" pitchFamily="18" charset="0"/>
              </a:rPr>
              <a:t>The Indian Government introduced various policies in the past 5 years, but there are some key policies that impact   more. </a:t>
            </a:r>
          </a:p>
          <a:p>
            <a:pPr marL="1257300" lvl="2" indent="-342900" algn="just">
              <a:buFont typeface="+mj-lt"/>
              <a:buAutoNum type="arabicPeriod"/>
            </a:pPr>
            <a:r>
              <a:rPr lang="en-GB" b="1" dirty="0">
                <a:solidFill>
                  <a:srgbClr val="D1C2A3"/>
                </a:solidFill>
                <a:latin typeface="Times New Roman" panose="02020603050405020304" pitchFamily="18" charset="0"/>
                <a:cs typeface="Times New Roman" panose="02020603050405020304" pitchFamily="18" charset="0"/>
              </a:rPr>
              <a:t>“National Clean Air Programme (NCAP)” </a:t>
            </a:r>
            <a:r>
              <a:rPr lang="en-GB" dirty="0">
                <a:solidFill>
                  <a:srgbClr val="D1C2A3"/>
                </a:solidFill>
                <a:latin typeface="Times New Roman" panose="02020603050405020304" pitchFamily="18" charset="0"/>
                <a:cs typeface="Times New Roman" panose="02020603050405020304" pitchFamily="18" charset="0"/>
              </a:rPr>
              <a:t>launched in 2019. The aim of this policy was to reduce PM2.5 and PM10  by 20-30% by 2024, and by 2026 expected 40%. Recent report of 2024-2025, as compared to 2017-18 PM10 saw reduction  , Mumbai led metros with a 44% drop. Some cities archived dramatic declines like Dhanbad (~81%) and  </a:t>
            </a:r>
            <a:r>
              <a:rPr lang="en-GB" dirty="0" err="1">
                <a:solidFill>
                  <a:srgbClr val="D1C2A3"/>
                </a:solidFill>
                <a:latin typeface="Times New Roman" panose="02020603050405020304" pitchFamily="18" charset="0"/>
                <a:cs typeface="Times New Roman" panose="02020603050405020304" pitchFamily="18" charset="0"/>
              </a:rPr>
              <a:t>Varansi</a:t>
            </a:r>
            <a:r>
              <a:rPr lang="en-GB" dirty="0">
                <a:solidFill>
                  <a:srgbClr val="D1C2A3"/>
                </a:solidFill>
                <a:latin typeface="Times New Roman" panose="02020603050405020304" pitchFamily="18" charset="0"/>
                <a:cs typeface="Times New Roman" panose="02020603050405020304" pitchFamily="18" charset="0"/>
              </a:rPr>
              <a:t> (~68%). </a:t>
            </a:r>
          </a:p>
          <a:p>
            <a:pPr marL="1257300" lvl="2" indent="-342900" algn="just">
              <a:buFont typeface="+mj-lt"/>
              <a:buAutoNum type="arabicPeriod"/>
            </a:pPr>
            <a:r>
              <a:rPr lang="en-GB" b="1" dirty="0">
                <a:solidFill>
                  <a:srgbClr val="D1C2A3"/>
                </a:solidFill>
                <a:latin typeface="Times New Roman" panose="02020603050405020304" pitchFamily="18" charset="0"/>
                <a:cs typeface="Times New Roman" panose="02020603050405020304" pitchFamily="18" charset="0"/>
              </a:rPr>
              <a:t>“Bharat Stage VI Emission Standards (BS-VI)/ Vehicle Policies</a:t>
            </a:r>
            <a:r>
              <a:rPr lang="en-GB" dirty="0">
                <a:solidFill>
                  <a:srgbClr val="D1C2A3"/>
                </a:solidFill>
                <a:latin typeface="Times New Roman" panose="02020603050405020304" pitchFamily="18" charset="0"/>
                <a:cs typeface="Times New Roman" panose="02020603050405020304" pitchFamily="18" charset="0"/>
              </a:rPr>
              <a:t>” introduced in April 2020 marked a significant step in curbing vehicle pollution. BS-VI fuel has lower sulphur content and mandates cleaner engine technology. </a:t>
            </a:r>
          </a:p>
          <a:p>
            <a:pPr marL="1257300" lvl="2" indent="-342900" algn="just">
              <a:buFont typeface="+mj-lt"/>
              <a:buAutoNum type="arabicPeriod"/>
            </a:pPr>
            <a:r>
              <a:rPr lang="en-GB" b="1" dirty="0">
                <a:solidFill>
                  <a:srgbClr val="D1C2A3"/>
                </a:solidFill>
                <a:latin typeface="Times New Roman" panose="02020603050405020304" pitchFamily="18" charset="0"/>
                <a:cs typeface="Times New Roman" panose="02020603050405020304" pitchFamily="18" charset="0"/>
              </a:rPr>
              <a:t>“Emission Trading Scheme (ETS) in Surat (Gujarat)” i</a:t>
            </a:r>
            <a:r>
              <a:rPr lang="en-GB" dirty="0">
                <a:solidFill>
                  <a:srgbClr val="D1C2A3"/>
                </a:solidFill>
                <a:latin typeface="Times New Roman" panose="02020603050405020304" pitchFamily="18" charset="0"/>
                <a:cs typeface="Times New Roman" panose="02020603050405020304" pitchFamily="18" charset="0"/>
              </a:rPr>
              <a:t>n partnership   with the Gujarat Pollution Control Board (GPCB) and  J-PAL South Asia was launched in 2019. This is market-based approach allowed industries  to trade emissions permits and proved to be highly cost-effective — reducing particulate pollution by around 20–30%   while improving compliance rates. The ETS has since been expanded to Ahmedabad and is being studied for replication   in other industrial cities.</a:t>
            </a:r>
          </a:p>
        </p:txBody>
      </p:sp>
    </p:spTree>
    <p:extLst>
      <p:ext uri="{BB962C8B-B14F-4D97-AF65-F5344CB8AC3E}">
        <p14:creationId xmlns:p14="http://schemas.microsoft.com/office/powerpoint/2010/main" val="12041208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2FA8A6-1BED-C301-4E7A-4631A3B9C2CF}"/>
              </a:ext>
            </a:extLst>
          </p:cNvPr>
          <p:cNvSpPr txBox="1"/>
          <p:nvPr/>
        </p:nvSpPr>
        <p:spPr>
          <a:xfrm>
            <a:off x="3048866" y="103909"/>
            <a:ext cx="6094268" cy="707886"/>
          </a:xfrm>
          <a:prstGeom prst="rect">
            <a:avLst/>
          </a:prstGeom>
          <a:noFill/>
        </p:spPr>
        <p:txBody>
          <a:bodyPr wrap="square">
            <a:spAutoFit/>
          </a:bodyPr>
          <a:lstStyle/>
          <a:p>
            <a:pPr algn="ctr"/>
            <a:r>
              <a:rPr lang="en-GB" sz="4000" b="1" dirty="0">
                <a:solidFill>
                  <a:srgbClr val="D1C2A3"/>
                </a:solidFill>
                <a:latin typeface="Times New Roman" panose="02020603050405020304" pitchFamily="18" charset="0"/>
                <a:cs typeface="Times New Roman" panose="02020603050405020304" pitchFamily="18" charset="0"/>
              </a:rPr>
              <a:t>9. Recommendation </a:t>
            </a:r>
          </a:p>
        </p:txBody>
      </p:sp>
      <p:sp>
        <p:nvSpPr>
          <p:cNvPr id="3" name="TextBox 2">
            <a:extLst>
              <a:ext uri="{FF2B5EF4-FFF2-40B4-BE49-F238E27FC236}">
                <a16:creationId xmlns:a16="http://schemas.microsoft.com/office/drawing/2014/main" id="{733973C8-A91C-BBF8-417C-98E434AD2F1C}"/>
              </a:ext>
            </a:extLst>
          </p:cNvPr>
          <p:cNvSpPr txBox="1"/>
          <p:nvPr/>
        </p:nvSpPr>
        <p:spPr>
          <a:xfrm>
            <a:off x="665018" y="1007918"/>
            <a:ext cx="10827327" cy="5724644"/>
          </a:xfrm>
          <a:prstGeom prst="rect">
            <a:avLst/>
          </a:prstGeom>
          <a:noFill/>
        </p:spPr>
        <p:txBody>
          <a:bodyPr wrap="square" rtlCol="0">
            <a:spAutoFit/>
          </a:bodyPr>
          <a:lstStyle/>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Target High-Pollution Cities First</a:t>
            </a:r>
            <a:r>
              <a:rPr lang="en-GB" dirty="0">
                <a:solidFill>
                  <a:srgbClr val="D1C2A3"/>
                </a:solidFill>
                <a:latin typeface="Times New Roman" panose="02020603050405020304" pitchFamily="18" charset="0"/>
                <a:cs typeface="Times New Roman" panose="02020603050405020304" pitchFamily="18" charset="0"/>
              </a:rPr>
              <a:t> :- Prioritize product launch in cities with high AQI levels such as Delhi, Ghaziabad, Kanpur, and Lucknow.</a:t>
            </a:r>
          </a:p>
          <a:p>
            <a:pPr marL="285750" indent="-285750" algn="just">
              <a:buFont typeface="Wingdings" panose="05000000000000000000" pitchFamily="2" charset="2"/>
              <a:buChar char="Ø"/>
            </a:pP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Design Air Purifiers for Indian Pollution Profiles :- </a:t>
            </a:r>
            <a:r>
              <a:rPr lang="en-GB" dirty="0">
                <a:solidFill>
                  <a:srgbClr val="D1C2A3"/>
                </a:solidFill>
                <a:latin typeface="Times New Roman" panose="02020603050405020304" pitchFamily="18" charset="0"/>
                <a:cs typeface="Times New Roman" panose="02020603050405020304" pitchFamily="18" charset="0"/>
              </a:rPr>
              <a:t>Focus on filtering PM2.5, PM10 and NO</a:t>
            </a:r>
            <a:r>
              <a:rPr lang="en-GB" baseline="-25000" dirty="0">
                <a:solidFill>
                  <a:srgbClr val="D1C2A3"/>
                </a:solidFill>
                <a:latin typeface="Times New Roman" panose="02020603050405020304" pitchFamily="18" charset="0"/>
                <a:cs typeface="Times New Roman" panose="02020603050405020304" pitchFamily="18" charset="0"/>
              </a:rPr>
              <a:t>2</a:t>
            </a:r>
            <a:r>
              <a:rPr lang="en-GB" dirty="0">
                <a:solidFill>
                  <a:srgbClr val="D1C2A3"/>
                </a:solidFill>
                <a:latin typeface="Times New Roman" panose="02020603050405020304" pitchFamily="18" charset="0"/>
                <a:cs typeface="Times New Roman" panose="02020603050405020304" pitchFamily="18" charset="0"/>
              </a:rPr>
              <a:t> , the most common harmful pollutants in Indian urban air. Include multi-layer HEPA filters, activated carbon and real-time AQI sensors.</a:t>
            </a:r>
          </a:p>
          <a:p>
            <a:pPr marL="285750" indent="-285750" algn="just">
              <a:buFont typeface="Wingdings" panose="05000000000000000000" pitchFamily="2" charset="2"/>
              <a:buChar char="Ø"/>
            </a:pPr>
            <a:endParaRPr lang="en-GB" baseline="-25000"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Leverage Demand Spikes During Pollution Seasons :- </a:t>
            </a:r>
            <a:r>
              <a:rPr lang="en-GB" dirty="0">
                <a:solidFill>
                  <a:srgbClr val="D1C2A3"/>
                </a:solidFill>
                <a:latin typeface="Times New Roman" panose="02020603050405020304" pitchFamily="18" charset="0"/>
                <a:cs typeface="Times New Roman" panose="02020603050405020304" pitchFamily="18" charset="0"/>
              </a:rPr>
              <a:t>Use past AQI data to anticipate seasonal demand peaks e.g., Diwali. Run targeted campaigns during these periods to boost adoption.</a:t>
            </a:r>
          </a:p>
          <a:p>
            <a:pPr marL="285750" indent="-285750" algn="just">
              <a:buFont typeface="Wingdings" panose="05000000000000000000" pitchFamily="2" charset="2"/>
              <a:buChar char="Ø"/>
            </a:pPr>
            <a:endParaRPr lang="en-GB" b="1"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Focus on Populated and High-Risk Area: - </a:t>
            </a:r>
            <a:r>
              <a:rPr lang="en-GB" dirty="0">
                <a:solidFill>
                  <a:srgbClr val="D1C2A3"/>
                </a:solidFill>
                <a:latin typeface="Times New Roman" panose="02020603050405020304" pitchFamily="18" charset="0"/>
                <a:cs typeface="Times New Roman" panose="02020603050405020304" pitchFamily="18" charset="0"/>
              </a:rPr>
              <a:t> Cities with both high AQI and large populations offer larger market size </a:t>
            </a:r>
            <a:r>
              <a:rPr lang="en-GB">
                <a:solidFill>
                  <a:srgbClr val="D1C2A3"/>
                </a:solidFill>
                <a:latin typeface="Times New Roman" panose="02020603050405020304" pitchFamily="18" charset="0"/>
                <a:cs typeface="Times New Roman" panose="02020603050405020304" pitchFamily="18" charset="0"/>
              </a:rPr>
              <a:t>and impact.</a:t>
            </a:r>
            <a:endParaRPr lang="en-GB"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GB" b="1"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Monitor Policy and EV Trends :- </a:t>
            </a:r>
            <a:r>
              <a:rPr lang="en-GB" dirty="0">
                <a:solidFill>
                  <a:srgbClr val="D1C2A3"/>
                </a:solidFill>
                <a:latin typeface="Times New Roman" panose="02020603050405020304" pitchFamily="18" charset="0"/>
                <a:cs typeface="Times New Roman" panose="02020603050405020304" pitchFamily="18" charset="0"/>
              </a:rPr>
              <a:t>BS-VI and EV adoptions are helping reduce emissions in some areas, this may shift purifier demand geographically over time. Keep track of government policy changes to align distribution and R&amp;D efforts.</a:t>
            </a:r>
          </a:p>
          <a:p>
            <a:pPr marL="285750" indent="-285750" algn="just">
              <a:buFont typeface="Wingdings" panose="05000000000000000000" pitchFamily="2" charset="2"/>
              <a:buChar char="Ø"/>
            </a:pPr>
            <a:endParaRPr lang="en-GB" b="1" dirty="0">
              <a:solidFill>
                <a:srgbClr val="D1C2A3"/>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GB" b="1" dirty="0">
                <a:solidFill>
                  <a:srgbClr val="D1C2A3"/>
                </a:solidFill>
                <a:latin typeface="Times New Roman" panose="02020603050405020304" pitchFamily="18" charset="0"/>
                <a:cs typeface="Times New Roman" panose="02020603050405020304" pitchFamily="18" charset="0"/>
              </a:rPr>
              <a:t>Educate Consumers with AQI Awareness :- </a:t>
            </a:r>
            <a:r>
              <a:rPr lang="en-GB" dirty="0">
                <a:solidFill>
                  <a:srgbClr val="D1C2A3"/>
                </a:solidFill>
                <a:latin typeface="Times New Roman" panose="02020603050405020304" pitchFamily="18" charset="0"/>
                <a:cs typeface="Times New Roman" panose="02020603050405020304" pitchFamily="18" charset="0"/>
              </a:rPr>
              <a:t>Partner with apps, hotels or local authorities to share real-time AQI and educate the public. Builds brand trust and creates awareness about the need for air purifiers.</a:t>
            </a:r>
            <a:endParaRPr lang="en-GB" b="1" dirty="0">
              <a:solidFill>
                <a:srgbClr val="D1C2A3"/>
              </a:solidFill>
              <a:latin typeface="Times New Roman" panose="02020603050405020304" pitchFamily="18" charset="0"/>
              <a:cs typeface="Times New Roman" panose="02020603050405020304" pitchFamily="18" charset="0"/>
            </a:endParaRPr>
          </a:p>
          <a:p>
            <a:pPr lvl="2" algn="just"/>
            <a:r>
              <a:rPr lang="en-GB" baseline="-25000" dirty="0">
                <a:solidFill>
                  <a:srgbClr val="D1C2A3"/>
                </a:solidFill>
              </a:rPr>
              <a:t> </a:t>
            </a:r>
            <a:endParaRPr lang="en-GB" baseline="-25000" dirty="0">
              <a:solidFill>
                <a:srgbClr val="D1C2A3"/>
              </a:solidFill>
              <a:latin typeface="Times New Roman" panose="02020603050405020304" pitchFamily="18" charset="0"/>
              <a:cs typeface="Times New Roman" panose="02020603050405020304" pitchFamily="18" charset="0"/>
            </a:endParaRPr>
          </a:p>
          <a:p>
            <a:pPr marL="1200150" lvl="2" indent="-285750" algn="just">
              <a:buFont typeface="Wingdings" panose="05000000000000000000" pitchFamily="2" charset="2"/>
              <a:buChar char="q"/>
            </a:pPr>
            <a:endParaRPr lang="en-GB" dirty="0">
              <a:solidFill>
                <a:srgbClr val="D1C2A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9064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39DD23-DD21-27CD-1168-82DEDD649DEC}"/>
              </a:ext>
            </a:extLst>
          </p:cNvPr>
          <p:cNvSpPr txBox="1"/>
          <p:nvPr/>
        </p:nvSpPr>
        <p:spPr>
          <a:xfrm>
            <a:off x="1270289" y="2875002"/>
            <a:ext cx="9651422" cy="1107996"/>
          </a:xfrm>
          <a:prstGeom prst="rect">
            <a:avLst/>
          </a:prstGeom>
          <a:noFill/>
        </p:spPr>
        <p:txBody>
          <a:bodyPr wrap="square">
            <a:spAutoFit/>
          </a:bodyPr>
          <a:lstStyle/>
          <a:p>
            <a:pPr algn="ctr"/>
            <a:r>
              <a:rPr lang="en-GB" sz="6600" b="1" dirty="0">
                <a:solidFill>
                  <a:srgbClr val="D1C2A3"/>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0053972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4.7|10"/>
</p:tagLst>
</file>

<file path=ppt/tags/tag2.xml><?xml version="1.0" encoding="utf-8"?>
<p:tagLst xmlns:a="http://schemas.openxmlformats.org/drawingml/2006/main" xmlns:r="http://schemas.openxmlformats.org/officeDocument/2006/relationships" xmlns:p="http://schemas.openxmlformats.org/presentationml/2006/main">
  <p:tag name="TIMING" val="|0.1|0.5|0.5|0.1|0.1|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917</TotalTime>
  <Words>1835</Words>
  <Application>Microsoft Office PowerPoint</Application>
  <PresentationFormat>Widescreen</PresentationFormat>
  <Paragraphs>133</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Times New Roman</vt:lpstr>
      <vt:lpstr>Wingdings</vt:lpstr>
      <vt:lpstr>Office Theme</vt:lpstr>
      <vt:lpstr>Conduct Market Fit Research for Air Purifier Development Using AQI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 Dave</dc:creator>
  <cp:lastModifiedBy>Ami Dave</cp:lastModifiedBy>
  <cp:revision>12</cp:revision>
  <dcterms:created xsi:type="dcterms:W3CDTF">2025-07-31T16:16:32Z</dcterms:created>
  <dcterms:modified xsi:type="dcterms:W3CDTF">2025-08-04T20:32:57Z</dcterms:modified>
</cp:coreProperties>
</file>